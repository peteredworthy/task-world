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01d93ee104387" /><Relationship Type="http://schemas.openxmlformats.org/officeDocument/2006/relationships/extended-properties" Target="/docProps/app.xml" Id="R908fd49ba77948ae" /><Relationship Type="http://schemas.openxmlformats.org/officeDocument/2006/relationships/officeDocument" Target="/ppt/presentation.xml" Id="Re52dfe40111340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db40407c34eb1"/>
  </p:sldMasterIdLst>
  <p:notesMasterIdLst>
    <p:notesMasterId xmlns:r="http://schemas.openxmlformats.org/officeDocument/2006/relationships" r:id="R0ef7c634e1394de6"/>
  </p:notesMasterIdLst>
  <p:sldIdLst>
    <p:sldId xmlns:r="http://schemas.openxmlformats.org/officeDocument/2006/relationships" id="256" r:id="R42f7a48e354f4bd7"/>
    <p:sldId xmlns:r="http://schemas.openxmlformats.org/officeDocument/2006/relationships" id="257" r:id="R8a2ea231a8754edd"/>
    <p:sldId xmlns:r="http://schemas.openxmlformats.org/officeDocument/2006/relationships" id="258" r:id="Rb83489a6463746a7"/>
    <p:sldId xmlns:r="http://schemas.openxmlformats.org/officeDocument/2006/relationships" id="259" r:id="R14d4e8008cdd403d"/>
    <p:sldId xmlns:r="http://schemas.openxmlformats.org/officeDocument/2006/relationships" id="260" r:id="R744926ad51f14c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33f5920954e37" /><Relationship Type="http://schemas.openxmlformats.org/officeDocument/2006/relationships/slideMaster" Target="/ppt/slideMasters/slideMaster1.xml" Id="R158db40407c34eb1" /><Relationship Type="http://schemas.openxmlformats.org/officeDocument/2006/relationships/notesMaster" Target="/ppt/notesMasters/notesMaster1.xml" Id="R0ef7c634e1394de6" /><Relationship Type="http://schemas.openxmlformats.org/officeDocument/2006/relationships/presProps" Target="/ppt/presProps.xml" Id="R7854d6c817da44df" /><Relationship Type="http://schemas.openxmlformats.org/officeDocument/2006/relationships/tableStyles" Target="/ppt/tableStyles.xml" Id="R0a6d6de3ab2a44dd" /><Relationship Type="http://schemas.openxmlformats.org/officeDocument/2006/relationships/slide" Target="/ppt/slides/slide1.xml" Id="R42f7a48e354f4bd7" /><Relationship Type="http://schemas.openxmlformats.org/officeDocument/2006/relationships/slide" Target="/ppt/slides/slide2.xml" Id="R8a2ea231a8754edd" /><Relationship Type="http://schemas.openxmlformats.org/officeDocument/2006/relationships/slide" Target="/ppt/slides/slide3.xml" Id="Rb83489a6463746a7" /><Relationship Type="http://schemas.openxmlformats.org/officeDocument/2006/relationships/slide" Target="/ppt/slides/slide4.xml" Id="R14d4e8008cdd403d" /><Relationship Type="http://schemas.openxmlformats.org/officeDocument/2006/relationships/slide" Target="/ppt/slides/slide5.xml" Id="R744926ad51f14c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a0969d4ccb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5743d7d06477f" /><Relationship Type="http://schemas.openxmlformats.org/officeDocument/2006/relationships/notesMaster" Target="/ppt/notesMasters/notesMaster1.xml" Id="Ref1f342acad9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c485707d040f0" /><Relationship Type="http://schemas.openxmlformats.org/officeDocument/2006/relationships/notesMaster" Target="/ppt/notesMasters/notesMaster1.xml" Id="R1e04314770f2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d9742b4f9845fc" /><Relationship Type="http://schemas.openxmlformats.org/officeDocument/2006/relationships/notesMaster" Target="/ppt/notesMasters/notesMaster1.xml" Id="Re65206487bf6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9dea1a5b04a8e" /><Relationship Type="http://schemas.openxmlformats.org/officeDocument/2006/relationships/notesMaster" Target="/ppt/notesMasters/notesMaster1.xml" Id="Rb684a97f9a744e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5bff9444945db" /><Relationship Type="http://schemas.openxmlformats.org/officeDocument/2006/relationships/notesMaster" Target="/ppt/notesMasters/notesMaster1.xml" Id="R9e146187fa87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de91dbb89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8967ae86249ff" /><Relationship Type="http://schemas.openxmlformats.org/officeDocument/2006/relationships/slideLayout" Target="/ppt/slideLayouts/slideLayout1.xml" Id="R45359e4f77e4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59e4f77e4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10ca4212d47dc" /><Relationship Type="http://schemas.openxmlformats.org/officeDocument/2006/relationships/notesSlide" Target="/ppt/notesSlides/notesSlide1.xml" Id="Ra2662d942a814f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558e2ffc4386" /><Relationship Type="http://schemas.openxmlformats.org/officeDocument/2006/relationships/notesSlide" Target="/ppt/notesSlides/notesSlide2.xml" Id="R4f6fd390c812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678eec33b4ad1" /><Relationship Type="http://schemas.openxmlformats.org/officeDocument/2006/relationships/notesSlide" Target="/ppt/notesSlides/notesSlide3.xml" Id="R71ff90e4e35149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98f3129574aaa" /><Relationship Type="http://schemas.openxmlformats.org/officeDocument/2006/relationships/notesSlide" Target="/ppt/notesSlides/notesSlide4.xml" Id="R7995b97f99af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d23f8929e4edd" /><Relationship Type="http://schemas.openxmlformats.org/officeDocument/2006/relationships/notesSlide" Target="/ppt/notesSlides/notesSlide5.xml" Id="Rbd46e1c5ea2b4b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7822D1-977B-4E7B-8C3E-C9AA0C2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6BF96-846F-407C-89A4-87358050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A1B25-4131-4C30-96C1-184E58B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2CFD-1C76-4B86-BB4D-8A3E7E51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45"/>
                </a:solidFill>
              </a:defRPr>
            </a:pPr>
            <a:r>
              <a:rPr sz="1200" b="1" i="0">
                <a:solidFill>
                  <a:srgbClr val="FF7A4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28424-27C5-47A7-88BA-F894170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0">
            <a:solidFill>
              <a:srgbClr val="4B2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F1B4C-7696-4D4B-8C4F-B7B3A8C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BF5DA-1057-46A7-B519-647BB23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45"/>
                </a:solidFill>
              </a:defRPr>
            </a:pPr>
            <a:r>
              <a:rPr sz="1050" b="1" i="0">
                <a:solidFill>
                  <a:srgbClr val="FF7A45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57D1F-6390-48CF-B85A-7213D14F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1A18D-7F45-49D2-896A-9F45F9F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DF49D-270F-4E42-B32C-E0EDB2A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50148-C61B-464A-880F-BD1DE39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DD158-6B74-4889-AE6B-D145B6E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452F-0E5F-4D1C-9762-8874967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5591D-8DDB-4E1E-B9FC-ABA64233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4E81A-B8C3-462E-962B-6ECF865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BE41A-1CFF-49BE-9A75-7A0288B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D05C8-98E5-43B1-87A4-7288CA03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A9B1D-6039-47ED-8C2D-12B76C03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32DDB-4DF6-4D8F-B0B8-BA9792F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39229-39AD-41EC-B69E-1D6E92E8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EAB0F-9C72-4BF6-ABD5-9C1DE15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5DE62-CA38-499E-87C0-9875B54A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EA6D8-26D4-4FE5-9E94-4DB7DD4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ADA4"/>
                </a:solidFill>
              </a:defRPr>
            </a:pPr>
            <a:r>
              <a:rPr sz="825" b="0" i="0">
                <a:solidFill>
                  <a:srgbClr val="B8ADA4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7B175-56F1-4182-A0BE-9148B7E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309D1-AC94-410D-9C33-2525183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66D38-4A63-467D-8DC9-19A6FF92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6105D-7385-4002-A7BA-0C0C2C8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Intervention desk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6A3F1-6030-4849-A7C1-71096CD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EB384-ECA7-4A28-96F4-24D3C0E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EXCEPTION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80DAE-DA55-40D7-B6BC-0C0A43D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AEFC2-75C5-4956-8235-FA65341A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329A64-11C1-47A7-84CD-7827503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7A45"/>
                </a:solidFill>
              </a:defRPr>
            </a:pPr>
            <a:r>
              <a:rPr sz="975" b="1" i="0">
                <a:solidFill>
                  <a:srgbClr val="FF7A4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920409-89C1-4694-8BF2-948455E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7EF"/>
                </a:solidFill>
              </a:defRPr>
            </a:pPr>
            <a:r>
              <a:rPr sz="1800" b="1" i="0">
                <a:solidFill>
                  <a:srgbClr val="FFF7EF"/>
                </a:solidFill>
              </a:rPr>
              <a:t>Intervention desk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4502A-8B17-4C84-9663-AF63E4A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Ranked by decision urgency, not noise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609C3-B538-4C0B-AF79-D57D2B71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3820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784B2D-A0C1-49FE-83D5-14FA5116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9048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Queue rules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8FB211-6861-4BB7-8B51-E07E15F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2857500" cy="5048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81FDF9-9E9E-4717-8EE1-E2607B81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INTERVENTION QUEUE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5454C4-F5D1-47AC-87EB-9701912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57400"/>
            <a:ext cx="819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17CFA-B4E6-41BC-8392-30CDAE9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955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0 OPEN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8E3D32-73F7-4D13-8588-74FB81F4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14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No decisions are waiting.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8E0F38-408C-4C1B-8027-6A0D9D7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48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DA4"/>
                </a:solidFill>
              </a:defRPr>
            </a:pPr>
            <a:r>
              <a:rPr sz="1050" b="0" i="0">
                <a:solidFill>
                  <a:srgbClr val="B8ADA4"/>
                </a:solidFill>
              </a:rPr>
              <a:t>Healthy runs remain visible below without competing for attention.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BFE69B-1E2A-4B99-A580-A9EB24B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29050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DF3277-F608-4C90-9A18-EECB804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MONITORING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DF131-2ED0-4CB2-B823-F30E510E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F848C0-6A04-4E89-852A-B8D80EB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7EF"/>
                </a:solidFill>
              </a:defRPr>
            </a:pPr>
            <a:r>
              <a:rPr sz="1050" b="1" i="0">
                <a:solidFill>
                  <a:srgbClr val="FFF7EF"/>
                </a:solidFill>
              </a:rPr>
              <a:t>r314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7D559A-03BF-42E1-A674-1E9C95D3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24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active · 6s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075711-0FAA-402C-8534-A57CFDA6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38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2F46D7-1A5A-42AA-A2D0-EEBBFE69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81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7EF"/>
                </a:solidFill>
              </a:defRPr>
            </a:pPr>
            <a:r>
              <a:rPr sz="1050" b="1" i="0">
                <a:solidFill>
                  <a:srgbClr val="FFF7EF"/>
                </a:solidFill>
              </a:rPr>
              <a:t>r315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95B7EB-9BC7-4419-95A3-FBC0A445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81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verify · 12s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141598-6865-46FF-A092-606D1F8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A04A85-B808-4ECF-83F4-D6EF1DB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7EF"/>
                </a:solidFill>
              </a:defRPr>
            </a:pPr>
            <a:r>
              <a:rPr sz="1050" b="1" i="0">
                <a:solidFill>
                  <a:srgbClr val="FFF7EF"/>
                </a:solidFill>
              </a:rPr>
              <a:t>r313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5E2616-7769-450F-93D6-772B4CFF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38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active · 2m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4316F1-98AA-4F43-AD36-5757F7D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70485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949D6D-7A66-44E8-9BEA-085E0F74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ALL QUIET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6854FA-7003-49F2-B61F-9F0538B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7EF"/>
                </a:solidFill>
              </a:defRPr>
            </a:pPr>
            <a:r>
              <a:rPr sz="1800" b="1" i="0">
                <a:solidFill>
                  <a:srgbClr val="FFF7EF"/>
                </a:solidFill>
              </a:rPr>
              <a:t>Nothing requires a decision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9DACBE-7539-4C4F-AB5B-F0E8D8C1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ADA4"/>
                </a:solidFill>
              </a:defRPr>
            </a:pPr>
            <a:r>
              <a:rPr sz="1200" b="0" i="0">
                <a:solidFill>
                  <a:srgbClr val="B8ADA4"/>
                </a:solidFill>
              </a:rPr>
              <a:t>Health strips prove positive progress without turning normal runs into cases.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B3B2C7-37AC-4E20-AC23-A772D508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64389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749F88-AE13-4F62-A62A-449BE63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4251F7-4C5E-4211-91A1-0568859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528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r314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F6118F-4308-42AB-B8CE-9970D65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verify-claim-sweep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D4304A-0D4F-44E4-9264-4E43B33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E0A3"/>
                </a:solidFill>
              </a:defRPr>
            </a:pPr>
            <a:r>
              <a:rPr sz="975" b="1" i="0">
                <a:solidFill>
                  <a:srgbClr val="5BE0A3"/>
                </a:solidFill>
              </a:rPr>
              <a:t>2 active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C05012-5CCB-4A1A-A39A-C0586DD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52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$1.94 / $12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158764-B063-4481-BDA9-76AABC3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8ADA4"/>
                </a:solidFill>
              </a:defRPr>
            </a:pPr>
            <a:r>
              <a:rPr sz="900" b="0" i="0">
                <a:solidFill>
                  <a:srgbClr val="B8ADA4"/>
                </a:solidFill>
              </a:rPr>
              <a:t>6s ago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C7AD45-56D7-4CF9-9C20-9FBFD97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64389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F638DC-3122-4FBE-B348-43B355C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F70C25-F3F8-49F5-AC61-342BBA0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910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r315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3D7A91-AD75-4CD6-B803-79397EF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w8-driver-shrink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99F218-9F31-4EEF-BF0B-8A1DE581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E0A3"/>
                </a:solidFill>
              </a:defRPr>
            </a:pPr>
            <a:r>
              <a:rPr sz="975" b="1" i="0">
                <a:solidFill>
                  <a:srgbClr val="5BE0A3"/>
                </a:solidFill>
              </a:rPr>
              <a:t>1 verify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D7A592-3FE3-4725-8716-553CF4A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91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$1.32 / $10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CB7748-02EB-4584-9302-82C1816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38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8ADA4"/>
                </a:solidFill>
              </a:defRPr>
            </a:pPr>
            <a:r>
              <a:rPr sz="900" b="0" i="0">
                <a:solidFill>
                  <a:srgbClr val="B8ADA4"/>
                </a:solidFill>
              </a:rPr>
              <a:t>12s ago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61064B-72FE-47E4-8B37-1A9A27D9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95850"/>
            <a:ext cx="64389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A52F96-B3E4-4924-B7C7-F70B3069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B8DA07-1B9E-4891-8A42-26734A7F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292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r313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8F4405-D66F-4C38-BD21-8F8045B8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2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repo-clone-guard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34622F-81D0-4072-8421-6A3F841E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29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E0A3"/>
                </a:solidFill>
              </a:defRPr>
            </a:pPr>
            <a:r>
              <a:rPr sz="975" b="1" i="0">
                <a:solidFill>
                  <a:srgbClr val="5BE0A3"/>
                </a:solidFill>
              </a:rPr>
              <a:t>1 active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36D09D-BAB5-4173-AB70-D62A1CD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29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$1.05 / $12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7471E50-136D-4754-BCA6-FF426A2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768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8ADA4"/>
                </a:solidFill>
              </a:defRPr>
            </a:pPr>
            <a:r>
              <a:rPr sz="900" b="0" i="0">
                <a:solidFill>
                  <a:srgbClr val="B8ADA4"/>
                </a:solidFill>
              </a:rPr>
              <a:t>2m ago</a:t>
            </a:r>
          </a:p>
        </p:txBody>
      </p:sp>
    </p:spTree>
    <p:extLst>
      <p:ext uri="{BB962C8B-B14F-4D97-AF65-F5344CB8AC3E}">
        <p14:creationId xmlns:p14="http://schemas.microsoft.com/office/powerpoint/2010/main" val="603677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89C992-D1DC-477C-9E5D-85AE939B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DF907-6303-4AB0-8D9A-EB5EC95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FC876-7251-46C4-89B3-5BE721C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656C9-3DE3-4999-8B1D-48ECC99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45"/>
                </a:solidFill>
              </a:defRPr>
            </a:pPr>
            <a:r>
              <a:rPr sz="1200" b="1" i="0">
                <a:solidFill>
                  <a:srgbClr val="FF7A4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D2753-B665-4A48-818B-4184456C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0">
            <a:solidFill>
              <a:srgbClr val="4B2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2895-6A94-469C-893C-9BC8356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6681B-C2A7-4C72-95D4-22BA159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45"/>
                </a:solidFill>
              </a:defRPr>
            </a:pPr>
            <a:r>
              <a:rPr sz="1050" b="1" i="0">
                <a:solidFill>
                  <a:srgbClr val="FF7A45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D7E95-B555-4EAA-B1A3-C20D2E4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D5250-00ED-48BB-A9F7-7A2F405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2CD4D-8865-4BE7-86AC-FFBBC373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BCB4-FF69-4498-BE2B-00DA7C1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56A65-759C-4646-B2C5-837B2BF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8BD38-B605-4BEF-A0E3-A514795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B1369-4A64-434B-85CF-1DD2A96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AFDF5-9F9C-4690-ACDE-9C2290A2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004B0-F0D3-4241-BC70-1D75224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61AE6-53DE-4EE3-A2A9-86DE8BE5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F9E96-1B27-4520-BB56-EB486D5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EB26A-EDB1-41FE-B363-A992682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05B3F-B4DC-47D9-9ACD-B75D09A2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818A5-23EE-4E7A-A22C-548543D8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6B92C-6100-40BF-96B3-C99F33C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870DA-43A9-4214-9FF3-1F27E161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ADA4"/>
                </a:solidFill>
              </a:defRPr>
            </a:pPr>
            <a:r>
              <a:rPr sz="825" b="0" i="0">
                <a:solidFill>
                  <a:srgbClr val="B8ADA4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5C8C3-545E-4889-AFFC-7DA42F2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E670E-A569-4DB6-A7CE-9D7E8AD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67780-12E5-4658-AB1A-97266F48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AFF61-8D67-4B52-B211-F0568AB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Intervention desk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7693AA-1EF3-4F61-9C0D-AB0FC36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84138-2A47-42B2-886B-568D537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EXCEPTION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DB4F0-A0BF-4739-A3F7-03D7A93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2BF1AD-918A-446D-AC1B-39800C4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51010-4F7A-462D-BF90-364E987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7A45"/>
                </a:solidFill>
              </a:defRPr>
            </a:pPr>
            <a:r>
              <a:rPr sz="975" b="1" i="0">
                <a:solidFill>
                  <a:srgbClr val="FF7A4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E54B8A-A0D3-4D72-BEF8-D22EE53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7EF"/>
                </a:solidFill>
              </a:defRPr>
            </a:pPr>
            <a:r>
              <a:rPr sz="1800" b="1" i="0">
                <a:solidFill>
                  <a:srgbClr val="FFF7EF"/>
                </a:solidFill>
              </a:rPr>
              <a:t>3 open cases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64C9BE-8216-4DDA-A42C-919064D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Case 01 selected · repeat failure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E5B8C-A438-47E2-B57B-C61E2EE8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38200"/>
            <a:ext cx="704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0A4438-C8D7-4B27-9CB6-D9582E2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904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A0802"/>
                </a:solidFill>
              </a:defRPr>
            </a:pPr>
            <a:r>
              <a:rPr sz="825" b="1" i="0">
                <a:solidFill>
                  <a:srgbClr val="1A0802"/>
                </a:solidFill>
              </a:rPr>
              <a:t>Steer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BA205-8564-4BF6-8743-53FF7D3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838200"/>
            <a:ext cx="80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00DE2-B095-4DAC-85FF-D1AD192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904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Assign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EA278-EB33-4A31-BE6E-5E21B9A2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2857500" cy="5048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53C288-578B-450E-AC6D-A819C36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INTERVENTION QUEUE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A0036D-AE56-4EB8-843B-64A0C537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FD0556-749E-4989-AB61-C1C6C813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01 · REPEAT FAILURE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E8C9B9-5EA0-42C0-8CCE-8C6CA4A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r314 · R2=C ×2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7EC54-7201-4890-A89C-036F242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$1.05 retry · 3 blocked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5ABE67-0CEE-4EA3-AD2C-44DFD4E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7BB3E-705E-4834-B9B4-9B70B510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90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CC5C"/>
                </a:solidFill>
              </a:defRPr>
            </a:pPr>
            <a:r>
              <a:rPr sz="825" b="1" i="0">
                <a:solidFill>
                  <a:srgbClr val="FFCC5C"/>
                </a:solidFill>
              </a:rPr>
              <a:t>02 · PATCH APPROVAL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05CB27-354A-4713-85B4-AC8C731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r318 · patch p-41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6B484-5416-471F-B834-71CE458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43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waiting 2m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8C22F3-DE95-458C-B23A-ACC3460D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AC7EA1-AA2A-4742-9377-5BE946A1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9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STALLED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C2B1C1-E6B9-4C70-ACFA-8262BC70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r312 · no event 8m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03057B-B57E-43E9-9AD1-47D0198C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lease active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388718-9662-4ADF-9E3A-E9113AF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70485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B5AD4B-AAE6-49CB-8D17-CD0BE76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CASE 01 · SHOULD WE RETRY?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FC6485-F209-4118-9004-D191526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D2A"/>
          </a:solidFill>
          <a:ln xmlns:a="http://schemas.openxmlformats.org/drawingml/2006/main" w="0">
            <a:solidFill>
              <a:srgbClr val="4B1D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D7D49B-506E-41CB-9A61-4C44B1A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75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NO INFO DELTA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A3C27-4EC4-4F47-990A-02F0BAC2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TRIGGER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37473C-5B02-4482-9DE1-BD459339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Same requirement and grade across two attempts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0DDD95-D967-44D5-AD42-CF2481A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EVIDENCE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DED831-91E0-4AC2-B4F2-12941BC0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R2 · C / C · verifier cites suspension replay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FCB3FC-028E-4406-AB50-5562037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GAP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C4EC49-B657-41B2-AFED-BE33C36A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5574"/>
                </a:solidFill>
              </a:defRPr>
            </a:pPr>
            <a:r>
              <a:rPr sz="1125" b="1" i="0">
                <a:solidFill>
                  <a:srgbClr val="FF5574"/>
                </a:solidFill>
              </a:rPr>
              <a:t>Replay + BUSY_SNAPSHOT incident never entered builder packet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4CEE91-0E28-445E-99C1-7E2A328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EFFECT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D9C127-AF1E-4085-9943-5F25E311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$1.05 retry · 1 attempt left · 3 successors blocked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074FFB-82AE-41E5-A351-1A38152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640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433514-65B7-4B6A-A785-E34B8FFD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CC5C"/>
                </a:solidFill>
              </a:defRPr>
            </a:pPr>
            <a:r>
              <a:rPr sz="825" b="1" i="0">
                <a:solidFill>
                  <a:srgbClr val="FFCC5C"/>
                </a:solidFill>
              </a:rPr>
              <a:t>RECOMMENDED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063DE7-07F6-48AC-B953-959680C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292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Steer with the missing evidence; do not spend the final attempt unchanged.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51EBD3-D9A7-41F0-8A55-7C51C47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912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7D2B31-9BE2-49F7-BD21-3C3B73C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5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7EF"/>
                </a:solidFill>
              </a:defRPr>
            </a:pPr>
            <a:r>
              <a:rPr sz="900" b="1" i="0">
                <a:solidFill>
                  <a:srgbClr val="FFF7EF"/>
                </a:solidFill>
              </a:rPr>
              <a:t>Open evidence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7F8F5E-7A41-437C-9EBF-678DD10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4E4526-9B47-4D5B-A13C-441EC0B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578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7EF"/>
                </a:solidFill>
              </a:defRPr>
            </a:pPr>
            <a:r>
              <a:rPr sz="900" b="1" i="0">
                <a:solidFill>
                  <a:srgbClr val="FFF7EF"/>
                </a:solidFill>
              </a:rPr>
              <a:t>Retry with delta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19F380-BB9B-4001-AE31-698D9CD6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91200"/>
            <a:ext cx="14859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B1A39E-0735-4EB9-A300-8CF35F4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5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A0802"/>
                </a:solidFill>
              </a:defRPr>
            </a:pPr>
            <a:r>
              <a:rPr sz="900" b="1" i="0">
                <a:solidFill>
                  <a:srgbClr val="1A0802"/>
                </a:solidFill>
              </a:rPr>
              <a:t>Steer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043B10-077A-45B9-908A-C859CEC2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38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7567BF-994E-4E1D-88A5-21BAA1A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578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7EF"/>
                </a:solidFill>
              </a:defRPr>
            </a:pPr>
            <a:r>
              <a:rPr sz="900" b="1" i="0">
                <a:solidFill>
                  <a:srgbClr val="FFF7EF"/>
                </a:solidFill>
              </a:rPr>
              <a:t>Dismiss</a:t>
            </a:r>
          </a:p>
        </p:txBody>
      </p:sp>
    </p:spTree>
    <p:extLst>
      <p:ext uri="{BB962C8B-B14F-4D97-AF65-F5344CB8AC3E}">
        <p14:creationId xmlns:p14="http://schemas.microsoft.com/office/powerpoint/2010/main" val="1060389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4D7E5D-643F-475C-8F45-5FCB1195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9595-3BCD-4781-8907-91187A7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E59E5-2371-4496-8DC4-9429180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2BC69-8CF4-486C-8FE9-4D5AE132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45"/>
                </a:solidFill>
              </a:defRPr>
            </a:pPr>
            <a:r>
              <a:rPr sz="1200" b="1" i="0">
                <a:solidFill>
                  <a:srgbClr val="FF7A4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A6BDC-A5E8-4A2F-9309-58C2F61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0">
            <a:solidFill>
              <a:srgbClr val="4B2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479F-0D2E-4AB8-88DC-452BC0B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C97FE-3423-420F-9E15-C10C709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45"/>
                </a:solidFill>
              </a:defRPr>
            </a:pPr>
            <a:r>
              <a:rPr sz="1050" b="1" i="0">
                <a:solidFill>
                  <a:srgbClr val="FF7A45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F9060-DDDD-4F62-9BA0-3AC352C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6BB63-E123-4299-B8C6-D5276FB1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2D802-AD62-4300-A53C-BE20915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B63F1-536B-4D13-9C30-997D353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9BFD4-01BF-4CC5-AC4C-DFC6E3F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034CE-9247-418A-BEEC-9619E45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5452A-F5EB-42FA-94C7-E51C5D1D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AE74B-9DC8-4520-AA65-7A88833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F1C0-C620-40FD-9AD7-D579CE7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BCDA0-5997-4687-AE62-B94815F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29A4F-470D-4B1F-9E6F-A5DC22C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6C52C-A8DA-49D2-A8D9-CB89B75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B0212-BB73-497E-888F-3AD8ED8F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96328-371D-43F7-A36D-82C3A1C9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FA4F7-A21C-4385-B47D-1621FAF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58E29-5010-4186-8C5A-97C608EE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ADA4"/>
                </a:solidFill>
              </a:defRPr>
            </a:pPr>
            <a:r>
              <a:rPr sz="825" b="0" i="0">
                <a:solidFill>
                  <a:srgbClr val="B8ADA4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7629F-7FBA-48CD-821E-834D09BE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D0635-1F88-4728-9B34-DB8AAF9A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C047F-A3B1-4CD2-8D94-7DAA28A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49F44-EFFA-47E5-B1CF-6D0B2BE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Case 01 /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8803C-6611-4B4F-BFCC-3FB33360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F9BF0-7CE3-4D59-84CE-67B073B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EXCEPTION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A6958-DAB7-47E8-8D27-AF69BF6C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2FD0A-1270-4C97-BF3E-AC461BB2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39AAEC-4655-4ADC-93B7-3F59D87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7A45"/>
                </a:solidFill>
              </a:defRPr>
            </a:pPr>
            <a:r>
              <a:rPr sz="975" b="1" i="0">
                <a:solidFill>
                  <a:srgbClr val="FF7A4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239FA-1895-460D-B085-E97DB4D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7EF"/>
                </a:solidFill>
              </a:defRPr>
            </a:pPr>
            <a:r>
              <a:rPr sz="1800" b="1" i="0">
                <a:solidFill>
                  <a:srgbClr val="FFF7EF"/>
                </a:solidFill>
              </a:rPr>
              <a:t>Case 01 · evidence packet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00431-386E-41D9-A400-CDA83A3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Queue position persists while evidence expands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0F1D5-DB97-4A0B-A284-FB190DA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382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0A5169-FDF0-417E-8786-08F352A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9048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A0802"/>
                </a:solidFill>
              </a:defRPr>
            </a:pPr>
            <a:r>
              <a:rPr sz="825" b="1" i="0">
                <a:solidFill>
                  <a:srgbClr val="1A0802"/>
                </a:solidFill>
              </a:rPr>
              <a:t>Add to steering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4CB6CD-233B-4317-B239-EF47B246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2857500" cy="5048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DDC872-1201-4D22-BB1A-0985908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INTERVENTION QUEUE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E7BDA-9130-40C5-8D06-846FAE5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F092B-2086-48F8-9C43-1BD3A432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01 · REPEAT FAILURE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B71F6E-C3E8-433C-8D41-E67C8677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r314 · R2=C ×2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18F9F-5255-49C1-A447-E02DCAD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$1.05 retry · 3 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F74F65-358A-448B-896B-0421676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9798FB-8397-4BD4-A620-7BBBABA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90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CC5C"/>
                </a:solidFill>
              </a:defRPr>
            </a:pPr>
            <a:r>
              <a:rPr sz="825" b="1" i="0">
                <a:solidFill>
                  <a:srgbClr val="FFCC5C"/>
                </a:solidFill>
              </a:rPr>
              <a:t>02 · PATCH APPROVAL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50AB64-D348-4AC6-B30E-788F46B0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r318 · patch p-41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821154-3D65-4182-B465-2780C1E6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43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waiting 2m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8F47A3-F02D-41D5-BBE7-94A273A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D0EFDE-41A3-40AD-8FF4-907220DC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9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STALLED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6A3B62-001D-448F-83AE-8ED6E94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r312 · no event 8m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3DA058-7B3C-4559-BA69-E2CEB797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lease active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81BD80-BFA3-4530-BD91-FFF26F2B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70485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74DAD6-E55A-4B4E-8193-5A7A2787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7A45"/>
                </a:solidFill>
              </a:defRPr>
            </a:pPr>
            <a:r>
              <a:rPr sz="900" b="1" i="0">
                <a:solidFill>
                  <a:srgbClr val="FF7A45"/>
                </a:solidFill>
              </a:rPr>
              <a:t>R2 · REPEATED VERIFICATION FINDING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44D0BF-E817-4BA8-8A56-69465970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95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D2A"/>
          </a:solidFill>
          <a:ln xmlns:a="http://schemas.openxmlformats.org/drawingml/2006/main" w="0">
            <a:solidFill>
              <a:srgbClr val="4B1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686014-E63F-4E90-AA60-0428086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733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5574"/>
                </a:solidFill>
              </a:defRPr>
            </a:pPr>
            <a:r>
              <a:rPr sz="975" b="1" i="0">
                <a:solidFill>
                  <a:srgbClr val="FF5574"/>
                </a:solidFill>
              </a:rPr>
              <a:t>C / 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23A53E-4017-4847-B5D0-6BB7560E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7EF"/>
                </a:solidFill>
              </a:defRPr>
            </a:pPr>
            <a:r>
              <a:rPr sz="1500" b="1" i="0">
                <a:solidFill>
                  <a:srgbClr val="FFF7EF"/>
                </a:solidFill>
              </a:rPr>
              <a:t>Suspended leases are re-queued, never dropped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4273E0-A2FB-4AEE-8971-89BCEAD8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64008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87A672-17A9-4B8D-AC9F-BA8CB3D5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VERIFIER 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D625D5-7757-4DDC-9AE0-F8404C3F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Suspension mid-sweep skips the row; same defect as attempt 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675C7E-CC09-49A6-8A14-2E507DC3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29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INPUT DELTA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4ADC8C-DAC1-42AB-B07F-DE998F9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644571-52F0-46F3-8666-7012C05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338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✓ verdict text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15B276-9AE3-4C99-B501-BB41AA52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140C90-E98E-4C2B-B48B-42FB3A6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338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✓ rubric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0E52E2-B301-4AB1-A826-020E9DAF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EE908E-B93A-4A6D-8C2E-A141AD9A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338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✓ own candidate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829E8F-4E93-448F-920C-65B973F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D2A"/>
          </a:solidFill>
          <a:ln xmlns:a="http://schemas.openxmlformats.org/drawingml/2006/main" w="0">
            <a:solidFill>
              <a:srgbClr val="4B1D2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06F50B-A91B-4860-A4DA-49C78B0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338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× replay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14CB3D-43C8-4D21-B567-1D4B4D3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9575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D2A"/>
          </a:solidFill>
          <a:ln xmlns:a="http://schemas.openxmlformats.org/drawingml/2006/main" w="0">
            <a:solidFill>
              <a:srgbClr val="4B1D2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483701-B4C0-4F3B-B90A-557E25B8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338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× incident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06ADC6-15D0-4BEE-973C-8E98583B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640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4B1D2A"/>
          </a:solidFill>
          <a:ln xmlns:a="http://schemas.openxmlformats.org/drawingml/2006/main" w="9525">
            <a:solidFill>
              <a:srgbClr val="FF557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F458CC-BD52-4079-AA50-389C537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MISSING CONTEXT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6E3008-264F-4156-89CE-2CB8C9A5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292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BUSY_SNAPSHOT · 2026-07-16 10:22</a:t>
            </a:r>
          </a:p>
          <a:p xmlns:a="http://schemas.openxmlformats.org/drawingml/2006/main">
            <a:pPr algn="l">
              <a:defRPr sz="1125" b="1" i="0">
                <a:solidFill>
                  <a:srgbClr val="FFF7EF"/>
                </a:solidFill>
              </a:defRPr>
            </a:pPr>
            <a:r>
              <a:rPr sz="1125" b="1" i="0">
                <a:solidFill>
                  <a:srgbClr val="FFF7EF"/>
                </a:solidFill>
              </a:rPr>
              <a:t>Suspension replay · verifier record vr-112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E68C4E-581F-4E47-B02A-FA41301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Case consequence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1821E5-ADC7-4AF0-A401-D591848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67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C5C"/>
                </a:solidFill>
              </a:defRPr>
            </a:pPr>
            <a:r>
              <a:rPr sz="1125" b="1" i="0">
                <a:solidFill>
                  <a:srgbClr val="FFCC5C"/>
                </a:solidFill>
              </a:rPr>
              <a:t>$1.05 retry · 1 attempt left · 3 successors blocked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DC8460-B6BC-4B91-A7D6-5A6AEE8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1066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C5416A-2589-4ADE-977E-9F9D692F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769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Raw packet</a:t>
            </a:r>
          </a:p>
        </p:txBody>
      </p:sp>
    </p:spTree>
    <p:extLst>
      <p:ext uri="{BB962C8B-B14F-4D97-AF65-F5344CB8AC3E}">
        <p14:creationId xmlns:p14="http://schemas.microsoft.com/office/powerpoint/2010/main" val="592478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E85B8B-AE96-4B7E-AD44-99323FA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1493A-EF9C-4F48-9973-0863ECC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54B13-4277-4340-8910-8BC4B71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58507-0674-4929-A436-47865B0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45"/>
                </a:solidFill>
              </a:defRPr>
            </a:pPr>
            <a:r>
              <a:rPr sz="1200" b="1" i="0">
                <a:solidFill>
                  <a:srgbClr val="FF7A4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F3787-F3C5-4D78-B002-F61723AD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0">
            <a:solidFill>
              <a:srgbClr val="4B2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D6143-A712-4B3E-9084-D114739B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4C6AE-10DA-4949-83AA-2A60E768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45"/>
                </a:solidFill>
              </a:defRPr>
            </a:pPr>
            <a:r>
              <a:rPr sz="1050" b="1" i="0">
                <a:solidFill>
                  <a:srgbClr val="FF7A45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E03FE-359C-49E4-9574-05C1FDB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E83B6-7F60-4EF3-8B22-36DEF1F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AB9B1-BF3A-48BF-A28F-1602FF3F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13626-00FB-47DF-9EF1-D951AE5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75F03-867E-49F9-8962-1B69583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C4565-E7F2-40CC-A09D-C72E475F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DB2B2-85A7-4385-A48C-B415C6E7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BBBCE-9F64-4716-ACC3-DA84B27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D0B82-3823-4768-8382-B5EC6AE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CE4B7-6F93-414F-89AB-44E82C1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466CB-9241-4448-B7CF-A75A8BC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CFDF2-B213-49F3-AAEE-A1D9CE23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6C0C5-05E3-4ECD-A8A6-EFFB8F8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83709-7E9F-45F7-BFEC-36F248F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8A2B7-4E62-4EB7-87C3-468E486F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7E058-DA9F-4399-9848-D9023D4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ADA4"/>
                </a:solidFill>
              </a:defRPr>
            </a:pPr>
            <a:r>
              <a:rPr sz="825" b="0" i="0">
                <a:solidFill>
                  <a:srgbClr val="B8ADA4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01191-F258-459E-B65F-820192D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1A89C-5BBF-4F57-AC7F-A12C1E0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E04C9-7E5B-47AF-A047-E45776DC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CFF02-4C19-48AD-B4B7-64CFEA89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Case 01 / Steering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F69FA-F151-4B79-B7B7-9DCF63D4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36125-9632-4F4E-8099-826A717C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EXCEPTION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B2675-074E-4B85-AA5E-696C38B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3A3FFD-454B-4253-8C6E-00BBF96F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A86B6-E1B4-454F-8269-D0D7B0EA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7A45"/>
                </a:solidFill>
              </a:defRPr>
            </a:pPr>
            <a:r>
              <a:rPr sz="975" b="1" i="0">
                <a:solidFill>
                  <a:srgbClr val="FF7A4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2AAD2-26E1-41E4-A97A-D7F6106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"/>
            <a:ext cx="10572750" cy="626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C0C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C964C9-7BC0-4DBB-A12B-7F7C95D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81050"/>
            <a:ext cx="9086850" cy="5810250"/>
          </a:xfrm>
          <a:prstGeom xmlns:a="http://schemas.openxmlformats.org/drawingml/2006/main" prst="roundRect">
            <a:avLst>
              <a:gd name="adj" fmla="val 98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61B6A5-44EC-4352-9EC3-64F6599F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028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7A45"/>
                </a:solidFill>
              </a:defRPr>
            </a:pPr>
            <a:r>
              <a:rPr sz="825" b="1" i="0">
                <a:solidFill>
                  <a:srgbClr val="FF7A45"/>
                </a:solidFill>
              </a:rPr>
              <a:t>STEER CASE 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74E177-8CD5-4314-BD8D-6D4B6270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95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7EF"/>
                </a:solidFill>
              </a:defRPr>
            </a:pPr>
            <a:r>
              <a:rPr sz="1725" b="1" i="0">
                <a:solidFill>
                  <a:srgbClr val="FFF7EF"/>
                </a:solidFill>
              </a:rPr>
              <a:t>Add the missing information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B81899-EB77-4B5E-850F-E2DB5033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668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391D"/>
          </a:solidFill>
          <a:ln xmlns:a="http://schemas.openxmlformats.org/drawingml/2006/main" w="0">
            <a:solidFill>
              <a:srgbClr val="47391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4C237-4690-4C4A-910D-30636803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1049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CC5C"/>
                </a:solidFill>
              </a:defRPr>
            </a:pPr>
            <a:r>
              <a:rPr sz="825" b="1" i="0">
                <a:solidFill>
                  <a:srgbClr val="FFCC5C"/>
                </a:solidFill>
              </a:rPr>
              <a:t>PROPOSED CAPABILITY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5B15E9-0E76-4A09-990C-9A57191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09750"/>
            <a:ext cx="84391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760C7B-6906-4918-96DA-619EBFD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7A45"/>
                </a:solidFill>
              </a:defRPr>
            </a:pPr>
            <a:r>
              <a:rPr sz="825" b="1" i="0">
                <a:solidFill>
                  <a:srgbClr val="FF7A45"/>
                </a:solidFill>
              </a:rPr>
              <a:t>CASE PACKET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F0459B-1B5E-42DC-A8C2-76A12A3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7EF"/>
                </a:solidFill>
              </a:defRPr>
            </a:pPr>
            <a:r>
              <a:rPr sz="1050" b="1" i="0">
                <a:solidFill>
                  <a:srgbClr val="FFF7EF"/>
                </a:solidFill>
              </a:rPr>
              <a:t>R2 · C / C · replay missing · 3 successors blocked · retry ≈ $1.05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BB2E70-EF1E-4753-BED5-E0C1D19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843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DIRECTIVE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26BAAC-C3E1-4E15-8BB0-790A874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84391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19050">
            <a:solidFill>
              <a:srgbClr val="FF7A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A16943-4E71-4FB0-B5D8-6E4739FB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821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Read lease-state snapshots outside the lock; verify suspension mid-sweep before reconnecting the join.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A8344C-ABDC-4552-9DB4-B6D8A8E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24300"/>
            <a:ext cx="843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ATTACHMENTS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72187E-84D9-419E-9F91-2791FE0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84391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FA3171-C61F-4BD1-865B-FC6C0BB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821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7EF"/>
                </a:solidFill>
              </a:defRPr>
            </a:pPr>
            <a:r>
              <a:rPr sz="1050" b="0" i="0">
                <a:solidFill>
                  <a:srgbClr val="FFF7EF"/>
                </a:solidFill>
              </a:rPr>
              <a:t>BUSY_SNAPSHOT · 2026-07-16 10:22 · fix commit 8f62b04c · vr-112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95E916-A304-4DA0-BCB2-826FB48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SCOPE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BEF320-49B4-48A5-ADC1-9A034E8D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72050"/>
            <a:ext cx="26670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77A5FD-A826-4CC9-8C08-22BDC6AF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673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r314 · verify region + successors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62E85E-257D-490F-92C4-889FD705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625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AUTHORITY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2BCAF0-2091-44EA-9635-93EE4D0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72050"/>
            <a:ext cx="25717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57141E-996E-4C68-9E73-3B4ACF8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67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Propose for approval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3809CA-6C19-4346-B8C7-354730F7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BUDGET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1262F3-70A5-4F17-A3BD-B6C7B6E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2050"/>
            <a:ext cx="2857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606548-4CD5-46F9-A4DB-74B0A9F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673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400k tokens / $1.50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48FDE8-C171-40B8-9229-89E79DB4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 full approval modal follows if the planner proposes topology changes.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E46F84-B23D-4F1D-B090-CC539CB7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9906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021FF4-950C-4A07-9C64-A311CAE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86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Cancel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3BD109-30BF-4D9E-A168-EAED6361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19800"/>
            <a:ext cx="12192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5F1E46-4E89-4CC4-A512-5FDEF69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864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A0802"/>
                </a:solidFill>
              </a:defRPr>
            </a:pPr>
            <a:r>
              <a:rPr sz="825" b="1" i="0">
                <a:solidFill>
                  <a:srgbClr val="1A0802"/>
                </a:solidFill>
              </a:rPr>
              <a:t>Generate plan</a:t>
            </a:r>
          </a:p>
        </p:txBody>
      </p:sp>
    </p:spTree>
    <p:extLst>
      <p:ext uri="{BB962C8B-B14F-4D97-AF65-F5344CB8AC3E}">
        <p14:creationId xmlns:p14="http://schemas.microsoft.com/office/powerpoint/2010/main" val="44119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B64469-E784-4FB6-95D4-30F6527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CA1D-C410-4C9F-8C26-EFF40AD7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1A1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ADF50-691C-402B-8EC1-1D0ECFF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DE88E-D5FF-4864-AE3E-2249E3B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A45"/>
                </a:solidFill>
              </a:defRPr>
            </a:pPr>
            <a:r>
              <a:rPr sz="1200" b="1" i="0">
                <a:solidFill>
                  <a:srgbClr val="FF7A4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DD43F-5439-4E9E-96E2-4B570329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0">
            <a:solidFill>
              <a:srgbClr val="4B2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64A0D-6D06-4BAC-8EBD-BE60264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5332D-FFC3-470C-9C00-B47E25B4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45"/>
                </a:solidFill>
              </a:defRPr>
            </a:pPr>
            <a:r>
              <a:rPr sz="1050" b="1" i="0">
                <a:solidFill>
                  <a:srgbClr val="FF7A45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E6534-DC87-435F-B92C-9CC5B67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7EF"/>
                </a:solidFill>
              </a:defRPr>
            </a:pPr>
            <a:r>
              <a:rPr sz="975" b="1" i="0">
                <a:solidFill>
                  <a:srgbClr val="FFF7EF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11D4B-9EDB-49A3-9E53-C2CC33B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CC7F8-150D-4F89-B5A5-24649A0B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5F292-2C7D-4EF3-825F-7F8D781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749A3-6999-45C9-B56C-3E92556B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9C57B-0478-414F-BF50-134063C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9E10B-3274-440E-80F9-1793326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38D67-E27F-4064-9671-098A079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EC002-84E7-4671-B84D-E680C6C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CEF61-F33B-43C6-92FB-61C1AE7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12E44-CC6F-4189-B0B2-51CD27A0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0C352-180F-4F0C-A33B-49776BD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ADA4"/>
                </a:solidFill>
              </a:defRPr>
            </a:pPr>
            <a:r>
              <a:rPr sz="1050" b="1" i="0">
                <a:solidFill>
                  <a:srgbClr val="B8ADA4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DC5C3-1179-4378-BF57-0D64BDC7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6E20C-B79E-4FB5-A09C-87D3B6E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544C-4059-43C2-BC75-8EEA961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23DC5-F87F-4C32-999D-515CF82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ADA4"/>
                </a:solidFill>
              </a:defRPr>
            </a:pPr>
            <a:r>
              <a:rPr sz="825" b="0" i="0">
                <a:solidFill>
                  <a:srgbClr val="B8ADA4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7DE14-1343-4D17-8EE8-9EDB3E1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13D"/>
          </a:solidFill>
          <a:ln xmlns:a="http://schemas.openxmlformats.org/drawingml/2006/main" w="0">
            <a:solidFill>
              <a:srgbClr val="464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8ECA7-088F-4321-BDD9-5576D28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0A3"/>
          </a:solidFill>
          <a:ln xmlns:a="http://schemas.openxmlformats.org/drawingml/2006/main" w="0">
            <a:solidFill>
              <a:srgbClr val="5BE0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449BD-D815-4822-A580-0AC044E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C3616-DFBE-4633-AB8E-1F8FB31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7EF"/>
                </a:solidFill>
              </a:defRPr>
            </a:pPr>
            <a:r>
              <a:rPr sz="1350" b="1" i="0">
                <a:solidFill>
                  <a:srgbClr val="FFF7EF"/>
                </a:solidFill>
              </a:rPr>
              <a:t>Intervention desk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B9E81-3100-4DF8-9B40-168A6A6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599E1-B553-49E2-9990-90FFDFE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EXCEPTION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397A5-0CCE-4446-9B75-751E5102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8ADA4"/>
                </a:solidFill>
              </a:defRPr>
            </a:pPr>
            <a:r>
              <a:rPr sz="900" b="1" i="0">
                <a:solidFill>
                  <a:srgbClr val="B8ADA4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27FA8-2E3A-429E-A8ED-CAEAA715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2A1F"/>
          </a:solidFill>
          <a:ln xmlns:a="http://schemas.openxmlformats.org/drawingml/2006/main" w="9525">
            <a:solidFill>
              <a:srgbClr val="FF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57346-7B97-4F04-82E5-05AAFDFB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7A45"/>
                </a:solidFill>
              </a:defRPr>
            </a:pPr>
            <a:r>
              <a:rPr sz="975" b="1" i="0">
                <a:solidFill>
                  <a:srgbClr val="FF7A4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4A271-0887-4105-BAF6-942FFCD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7EF"/>
                </a:solidFill>
              </a:defRPr>
            </a:pPr>
            <a:r>
              <a:rPr sz="1800" b="1" i="0">
                <a:solidFill>
                  <a:srgbClr val="FFF7EF"/>
                </a:solidFill>
              </a:rPr>
              <a:t>1 resolved · 2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C535A-6208-46C6-BCBB-75D926A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Case 01 resolved at 14:05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B7C580-430B-4F14-B2AB-C65747F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3820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0FBE76-1FD9-419D-BF0E-A746EFD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9048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7EF"/>
                </a:solidFill>
              </a:defRPr>
            </a:pPr>
            <a:r>
              <a:rPr sz="825" b="1" i="0">
                <a:solidFill>
                  <a:srgbClr val="FFF7EF"/>
                </a:solidFill>
              </a:rPr>
              <a:t>Show resolved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889352-DED9-4674-914F-6D46029E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2857500" cy="5048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42995B-71D2-41E1-8550-3AA9B907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INTERVENTION QUEUE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1EFE9-ED99-4CAB-B552-723790D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65A6-0395-4D3A-9599-0346398D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574"/>
                </a:solidFill>
              </a:defRPr>
            </a:pPr>
            <a:r>
              <a:rPr sz="825" b="1" i="0">
                <a:solidFill>
                  <a:srgbClr val="FF5574"/>
                </a:solidFill>
              </a:rPr>
              <a:t>01 · REPEAT FAILURE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CC322B-68C7-46DE-8A91-72DF90E0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r314 · R2=C ×2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9A40A8-7D7A-4CF1-A070-F313A4D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$1.05 retry · 3 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C7C967-C8BC-4E1B-9B83-874FF36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315BB1-E30D-47DD-9C63-D90DF5E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90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CC5C"/>
                </a:solidFill>
              </a:defRPr>
            </a:pPr>
            <a:r>
              <a:rPr sz="825" b="1" i="0">
                <a:solidFill>
                  <a:srgbClr val="FFCC5C"/>
                </a:solidFill>
              </a:rPr>
              <a:t>02 · PATCH APPROVAL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D19F4F-A77B-436E-AA1C-25018A5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r318 · patch p-41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2D5663-16D6-43BD-B430-EB0830E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43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waiting 2m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D15487-08F3-4527-B739-127E40B9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25527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62321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111CB1-9067-4268-8C0E-3FAC3505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9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03 · STALLED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CA23AF-05C1-46F3-B76D-DA24DF9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7EF"/>
                </a:solidFill>
              </a:defRPr>
            </a:pPr>
            <a:r>
              <a:rPr sz="1200" b="1" i="0">
                <a:solidFill>
                  <a:srgbClr val="FFF7EF"/>
                </a:solidFill>
              </a:rPr>
              <a:t>r312 · no event 8m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580801-F9EF-4AA9-9E96-C12B19CE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DA4"/>
                </a:solidFill>
              </a:defRPr>
            </a:pPr>
            <a:r>
              <a:rPr sz="975" b="1" i="0">
                <a:solidFill>
                  <a:srgbClr val="B8ADA4"/>
                </a:solidFill>
              </a:rPr>
              <a:t>lease active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18D75D-2FD7-4F7E-9409-AE75D06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70485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9050">
            <a:solidFill>
              <a:srgbClr val="5BE0A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33D0F9-8E9A-4A34-BE5D-9503245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E0A3"/>
                </a:solidFill>
              </a:defRPr>
            </a:pPr>
            <a:r>
              <a:rPr sz="1200" b="1" i="0">
                <a:solidFill>
                  <a:srgbClr val="5BE0A3"/>
                </a:solidFill>
              </a:rPr>
              <a:t>CASE 01 · RESOLVED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7CD638-94C0-484F-8E30-45AE42E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9F8D82-13E5-4D81-908D-CC15439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752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BE0A3"/>
                </a:solidFill>
              </a:defRPr>
            </a:pPr>
            <a:r>
              <a:rPr sz="900" b="1" i="0">
                <a:solidFill>
                  <a:srgbClr val="5BE0A3"/>
                </a:solidFill>
              </a:rPr>
              <a:t>MERGED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DB40E2-0B2D-47EE-BB60-933C3D4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7EF"/>
                </a:solidFill>
              </a:defRPr>
            </a:pPr>
            <a:r>
              <a:rPr sz="1425" b="1" i="0">
                <a:solidFill>
                  <a:srgbClr val="FFF7EF"/>
                </a:solidFill>
              </a:rPr>
              <a:t>One directive converted a repeated failure into a validated corrective path.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AF93C7-3D8A-4F25-82E9-6218DBE8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64008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9525">
            <a:solidFill>
              <a:srgbClr val="5BE0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76DD00-C08D-456A-A740-8DEF73E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OUTCOME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0527D4-BC36-47CE-8B11-909DE83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7EF"/>
                </a:solidFill>
              </a:defRPr>
            </a:pPr>
            <a:r>
              <a:rPr sz="1500" b="1" i="0">
                <a:solidFill>
                  <a:srgbClr val="FFF7EF"/>
                </a:solidFill>
              </a:rPr>
              <a:t>Merged · 6h 51m · $6.94 / $12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E814A8-7E55-42B8-8DCC-68F89B8A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DA4"/>
                </a:solidFill>
              </a:defRPr>
            </a:pPr>
            <a:r>
              <a:rPr sz="975" b="0" i="0">
                <a:solidFill>
                  <a:srgbClr val="B8ADA4"/>
                </a:solidFill>
              </a:rPr>
              <a:t>14:05 · final gate green · one intervention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B0DD81-A0DE-4106-BE96-45B9C90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CONFIRMATION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B8A93F-2371-4340-989F-EAFB64A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641DEC-483C-40DC-90CB-EEDE7B3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00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directive bound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EB2205-4D79-4292-8298-D4A27A19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4EB8E9-C678-4023-BB71-24A52043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00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patch approved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BF9393-4ADE-4730-92C7-C0A021D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2B"/>
          </a:solidFill>
          <a:ln xmlns:a="http://schemas.openxmlformats.org/drawingml/2006/main" w="0">
            <a:solidFill>
              <a:srgbClr val="183B2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981260-6768-4DA4-85F1-7A6C2127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E0A3"/>
                </a:solidFill>
              </a:defRPr>
            </a:pPr>
            <a:r>
              <a:rPr sz="825" b="1" i="0">
                <a:solidFill>
                  <a:srgbClr val="5BE0A3"/>
                </a:solidFill>
              </a:rPr>
              <a:t>replay passed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05F919-A1FD-4B23-B688-40B89DB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ADA4"/>
                </a:solidFill>
              </a:defRPr>
            </a:pPr>
            <a:r>
              <a:rPr sz="825" b="1" i="0">
                <a:solidFill>
                  <a:srgbClr val="B8ADA4"/>
                </a:solidFill>
              </a:rPr>
              <a:t>LEARNING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EA94F5-FCF8-4768-B3D0-26E3C92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81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7EF"/>
                </a:solidFill>
              </a:defRPr>
            </a:pPr>
            <a:r>
              <a:rPr sz="1275" b="1" i="0">
                <a:solidFill>
                  <a:srgbClr val="FFF7EF"/>
                </a:solidFill>
              </a:rPr>
              <a:t>Repeated incident context belongs upstream in the routine.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443132-4FBA-4E19-B07F-A4F038F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1790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D4C023-2DE9-403F-BBF9-6B7826D4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769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7EF"/>
                </a:solidFill>
              </a:defRPr>
            </a:pPr>
            <a:r>
              <a:rPr sz="900" b="1" i="0">
                <a:solidFill>
                  <a:srgbClr val="FFF7EF"/>
                </a:solidFill>
              </a:rPr>
              <a:t>Create routine change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381FA1-861B-4DDC-81FA-A6590050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10250"/>
            <a:ext cx="133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7A45"/>
          </a:solidFill>
          <a:ln xmlns:a="http://schemas.openxmlformats.org/drawingml/2006/main" w="0">
            <a:solidFill>
              <a:srgbClr val="FF7A4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E2C02A-F37E-42B6-BFC9-B3C3801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76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A0802"/>
                </a:solidFill>
              </a:defRPr>
            </a:pPr>
            <a:r>
              <a:rPr sz="900" b="1" i="0">
                <a:solidFill>
                  <a:srgbClr val="1A0802"/>
                </a:solidFill>
              </a:rPr>
              <a:t>Bank outcome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2C63CCA-45D3-458D-855F-17BBA52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0250"/>
            <a:ext cx="133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46413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5DB0EF-47C4-4376-AFEB-AB8B10B6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876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7EF"/>
                </a:solidFill>
              </a:defRPr>
            </a:pPr>
            <a:r>
              <a:rPr sz="900" b="1" i="0">
                <a:solidFill>
                  <a:srgbClr val="FFF7EF"/>
                </a:solidFill>
              </a:rPr>
              <a:t>Close case</a:t>
            </a:r>
          </a:p>
        </p:txBody>
      </p:sp>
    </p:spTree>
    <p:extLst>
      <p:ext uri="{BB962C8B-B14F-4D97-AF65-F5344CB8AC3E}">
        <p14:creationId xmlns:p14="http://schemas.microsoft.com/office/powerpoint/2010/main" val="1584702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2026-07-18T21:55:16.4470000Z</dcterms:created>
  <dcterms:modified xsi:type="dcterms:W3CDTF">2026-07-18T21:55:16.4470000Z</dcterms:modified>
</coreProperties>
</file>