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ea5ed6bfe40b4" /><Relationship Type="http://schemas.openxmlformats.org/officeDocument/2006/relationships/extended-properties" Target="/docProps/app.xml" Id="R02c5542cefe44f5b" /><Relationship Type="http://schemas.openxmlformats.org/officeDocument/2006/relationships/officeDocument" Target="/ppt/presentation.xml" Id="R3c1c4bf1cf35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17e26a3d35441c"/>
  </p:sldMasterIdLst>
  <p:notesMasterIdLst>
    <p:notesMasterId xmlns:r="http://schemas.openxmlformats.org/officeDocument/2006/relationships" r:id="Rd47d2ead084a4816"/>
  </p:notesMasterIdLst>
  <p:sldIdLst>
    <p:sldId xmlns:r="http://schemas.openxmlformats.org/officeDocument/2006/relationships" id="256" r:id="Rd2c9b2ea67134d46"/>
    <p:sldId xmlns:r="http://schemas.openxmlformats.org/officeDocument/2006/relationships" id="257" r:id="R877adad820f34b5f"/>
    <p:sldId xmlns:r="http://schemas.openxmlformats.org/officeDocument/2006/relationships" id="258" r:id="Rb854de28615748b6"/>
    <p:sldId xmlns:r="http://schemas.openxmlformats.org/officeDocument/2006/relationships" id="259" r:id="Rd9dad4e990344c59"/>
    <p:sldId xmlns:r="http://schemas.openxmlformats.org/officeDocument/2006/relationships" id="260" r:id="R1d4e8a9b7acb4d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b8b22dc3e4915" /><Relationship Type="http://schemas.openxmlformats.org/officeDocument/2006/relationships/slideMaster" Target="/ppt/slideMasters/slideMaster1.xml" Id="Rd917e26a3d35441c" /><Relationship Type="http://schemas.openxmlformats.org/officeDocument/2006/relationships/notesMaster" Target="/ppt/notesMasters/notesMaster1.xml" Id="Rd47d2ead084a4816" /><Relationship Type="http://schemas.openxmlformats.org/officeDocument/2006/relationships/presProps" Target="/ppt/presProps.xml" Id="Rb7366d5106ec4ae2" /><Relationship Type="http://schemas.openxmlformats.org/officeDocument/2006/relationships/tableStyles" Target="/ppt/tableStyles.xml" Id="Rbdd2ee2841074c5b" /><Relationship Type="http://schemas.openxmlformats.org/officeDocument/2006/relationships/slide" Target="/ppt/slides/slide1.xml" Id="Rd2c9b2ea67134d46" /><Relationship Type="http://schemas.openxmlformats.org/officeDocument/2006/relationships/slide" Target="/ppt/slides/slide2.xml" Id="R877adad820f34b5f" /><Relationship Type="http://schemas.openxmlformats.org/officeDocument/2006/relationships/slide" Target="/ppt/slides/slide3.xml" Id="Rb854de28615748b6" /><Relationship Type="http://schemas.openxmlformats.org/officeDocument/2006/relationships/slide" Target="/ppt/slides/slide4.xml" Id="Rd9dad4e990344c59" /><Relationship Type="http://schemas.openxmlformats.org/officeDocument/2006/relationships/slide" Target="/ppt/slides/slide5.xml" Id="R1d4e8a9b7acb4d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9379849dc747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a8f90630974696" /><Relationship Type="http://schemas.openxmlformats.org/officeDocument/2006/relationships/notesMaster" Target="/ppt/notesMasters/notesMaster1.xml" Id="R10ad1e8320ef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215b1045174933" /><Relationship Type="http://schemas.openxmlformats.org/officeDocument/2006/relationships/notesMaster" Target="/ppt/notesMasters/notesMaster1.xml" Id="Re2d639f0e0df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9701f6d81f467a" /><Relationship Type="http://schemas.openxmlformats.org/officeDocument/2006/relationships/notesMaster" Target="/ppt/notesMasters/notesMaster1.xml" Id="R0bc0a727b776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135a5734334969" /><Relationship Type="http://schemas.openxmlformats.org/officeDocument/2006/relationships/notesMaster" Target="/ppt/notesMasters/notesMaster1.xml" Id="R63b327e9896f4d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607dd25dda4360" /><Relationship Type="http://schemas.openxmlformats.org/officeDocument/2006/relationships/notesMaster" Target="/ppt/notesMasters/notesMaster1.xml" Id="R4121f45f8ce8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c7a6646ad4c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7348332bb9418b" /><Relationship Type="http://schemas.openxmlformats.org/officeDocument/2006/relationships/slideLayout" Target="/ppt/slideLayouts/slideLayout1.xml" Id="Rc471fd087e4849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1fd087e4849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9147aa6c542d5" /><Relationship Type="http://schemas.openxmlformats.org/officeDocument/2006/relationships/notesSlide" Target="/ppt/notesSlides/notesSlide1.xml" Id="Re1ad00982aa84e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c9da186ef4aa5" /><Relationship Type="http://schemas.openxmlformats.org/officeDocument/2006/relationships/notesSlide" Target="/ppt/notesSlides/notesSlide2.xml" Id="Rd5cb12b2f8e3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734104eaa4c64" /><Relationship Type="http://schemas.openxmlformats.org/officeDocument/2006/relationships/notesSlide" Target="/ppt/notesSlides/notesSlide3.xml" Id="R00e5fc99187346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b9a2707534a39" /><Relationship Type="http://schemas.openxmlformats.org/officeDocument/2006/relationships/notesSlide" Target="/ppt/notesSlides/notesSlide4.xml" Id="R30ead8a6245a49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de13ce01b4f3b" /><Relationship Type="http://schemas.openxmlformats.org/officeDocument/2006/relationships/notesSlide" Target="/ppt/notesSlides/notesSlide5.xml" Id="R278d1d44728343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AFDBDE-3D76-4F48-B8E6-169301A8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D2F9B-839F-451D-938E-11A62933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solidFill>
              <a:srgbClr val="FCFA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D415E-A6FA-4C25-940C-15F9B47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21A31-3829-4F0F-8D3D-0E486426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4635"/>
                </a:solidFill>
              </a:defRPr>
            </a:pPr>
            <a:r>
              <a:rPr sz="1200" b="1" i="0">
                <a:solidFill>
                  <a:srgbClr val="B8463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429E8-EB50-4E8B-AC1E-1B705EF1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99E26-C71E-4CD7-9D6C-651B7BD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0E120-A1CD-46E9-8F81-790DDF1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9B712-D258-4255-A7F9-A3C1147A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0">
            <a:solidFill>
              <a:srgbClr val="F2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68AD5-09A6-4537-9696-5FAFA3A2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BD384-EB95-4BF4-9EEE-F1BEC3CF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4635"/>
                </a:solidFill>
              </a:defRPr>
            </a:pPr>
            <a:r>
              <a:rPr sz="1050" b="1" i="0">
                <a:solidFill>
                  <a:srgbClr val="B84635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520D1-1A54-42E5-AF38-1261175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B1177-BFB7-4749-8D41-3BA14F43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7FA24-6E4A-4225-AC32-87D100E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495C-F964-4C0F-B163-8FCF0C40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C052B-E35E-4F78-B9FD-578EF0EF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7F7F4-ECA2-4EA1-A466-ABFA5BE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248F1-0499-4FFA-B6F8-AEE7F02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48E6C-C530-4100-B855-C6C2AC1B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969EC-9152-4E82-9CA8-5AAC30A6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296DE-6274-4FDE-B11B-BAA53F33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44835-4D81-433A-9853-B5B7908F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F9383-99FC-4CA8-8DF5-21EA4CA5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F3E00-C343-4D63-9425-0A7A1C45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078"/>
                </a:solidFill>
              </a:defRPr>
            </a:pPr>
            <a:r>
              <a:rPr sz="825" b="0" i="0">
                <a:solidFill>
                  <a:srgbClr val="687078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7E9EE-3057-4E45-9FA9-A0ACE9F7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9F7D9-CD2A-4C90-84EC-4924769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36E"/>
          </a:solidFill>
          <a:ln xmlns:a="http://schemas.openxmlformats.org/drawingml/2006/main" w="0">
            <a:solidFill>
              <a:srgbClr val="2583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A6EC9-7EBE-43EB-9950-A41C100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A1123-90BE-4813-A76B-CE6A050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r314 / Case 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AB543-E49F-4EAE-9BA4-D273AE7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E6C10-796D-451C-BD25-8A30BEE6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02 · EVENT SPINE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B4C22C-CDA8-4D90-B838-EC1B6D88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A309C-3E23-4FBE-907C-C351626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18E3B2-0808-4CEC-B236-C3D943F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84635"/>
                </a:solidFill>
              </a:defRPr>
            </a:pPr>
            <a:r>
              <a:rPr sz="975" b="1" i="0">
                <a:solidFill>
                  <a:srgbClr val="B8463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EEE7CC-F7D4-487C-9B8A-FA1F70A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B35"/>
                </a:solidFill>
              </a:defRPr>
            </a:pPr>
            <a:r>
              <a:rPr sz="1800" b="1" i="0">
                <a:solidFill>
                  <a:srgbClr val="202B35"/>
                </a:solidFill>
              </a:rPr>
              <a:t>r314 · verify-claim-sweep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4463CA-2573-4387-8A98-E2FB34D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Case file · live event stream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CA4154-6C05-46B3-B37E-D7A65962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38200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33AAB3-6D6B-4AD4-80E9-C87DF56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904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More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85833D-2986-42AE-A286-B028CBC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38200"/>
            <a:ext cx="762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0C2499-5108-43F8-9E4E-2457608C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048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Follow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BE34FA-463C-4E36-80CD-69A19C6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0490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AE4"/>
          </a:solidFill>
          <a:ln xmlns:a="http://schemas.openxmlformats.org/drawingml/2006/main" w="0">
            <a:solidFill>
              <a:srgbClr val="D5EA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40F041-47C6-47E7-89D8-A055039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1430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5836E"/>
                </a:solidFill>
              </a:defRPr>
            </a:pPr>
            <a:r>
              <a:rPr sz="900" b="1" i="0">
                <a:solidFill>
                  <a:srgbClr val="25836E"/>
                </a:solidFill>
              </a:rPr>
              <a:t>HEALTHY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34C92C-86F9-497D-9281-7C0AD664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672465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5409B2-85D8-4474-A919-7304B7A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14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EVENT SPINE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91411-B086-46B8-A591-CC1DFAC8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050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6D8279-3A0E-419A-B050-73141B9C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71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AE4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5D9C56-F5A3-4465-A9D7-4DC12F06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52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B354E8-9F44-4445-A51D-2E85575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Run started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566909-806E-4C59-9807-9504769F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routine sha 9bc83f2 · budget $12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97F654-A2E7-4631-930F-3E1D3E8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AE4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005955-4617-40E6-AF60-18469339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33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6DF02D-C1B2-4E30-A0E0-6F6A96F2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Plan horizon accepted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102ECE-8762-4C88-8ADA-00BEAAAD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5 nodes · final gate reachable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249723-C4DC-44DE-856E-87A10D15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EAE4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579F01-6793-4E61-A53A-3B0C3393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10:19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93D30A-5952-43A2-8C14-4A140A13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Builder packet bound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D5E46B-F885-4CED-8EA1-5EC5FB8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433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claim sweep · c-90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A886E8-0581-4E43-A2BB-8EB42372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14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0D1C0A-AA78-4192-A4CA-2CB4077A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5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10:31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2CB6D7-2841-485C-9E1D-26CED6C5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Verifier running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1BAFAD-E32D-4D6E-8B0F-C327673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R2 replay · 41s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71EF33-2FD3-413D-B182-1721FAB3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B7FC22-E90A-40D5-9313-88996226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10:32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3DF32C-2153-4954-A3A4-9DFFF1AD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57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4635"/>
                </a:solidFill>
              </a:defRPr>
            </a:pPr>
            <a:r>
              <a:rPr sz="1125" b="1" i="0">
                <a:solidFill>
                  <a:srgbClr val="B84635"/>
                </a:solidFill>
              </a:rPr>
              <a:t>Frontier emitting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23A2B7-69EF-484B-9AA1-57EEC6D7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no human wait · burn inside pace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D6C7FD-4309-47DC-9DDA-DA0E421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04950"/>
            <a:ext cx="3143250" cy="5048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3C3955-E953-462E-96DA-C5B0B627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PINNED SYNOPSIS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9AAD09-6473-4229-907C-8095F75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836E"/>
                </a:solidFill>
              </a:defRPr>
            </a:pPr>
            <a:r>
              <a:rPr sz="1650" b="1" i="0">
                <a:solidFill>
                  <a:srgbClr val="25836E"/>
                </a:solidFill>
              </a:rPr>
              <a:t>Nothing needs you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742312-6D24-4911-B0D8-3C67AE5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5"/>
                </a:solidFill>
              </a:defRPr>
            </a:pPr>
            <a:r>
              <a:rPr sz="1200" b="1" i="0">
                <a:solidFill>
                  <a:srgbClr val="202B35"/>
                </a:solidFill>
              </a:rPr>
              <a:t>The event spine is advancing and no decision is waiting.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9922F7-544D-47D1-90A6-3D171220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5041C4C-ADDC-49B9-88EE-2AC873A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CURRENT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EF6C33-94EB-4FD6-970A-789C6C6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verify-claim-sweep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6C620B-9B47-4BD2-B0DA-063D95E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last event 6s · 2 active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3C5AA5-448D-4F2A-823C-0EB03FA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BURN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41CCBE-B896-466F-9149-2BF3C8D3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$1.94 / $12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D40571-7D75-42DB-BDD4-356ED74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AE4"/>
          </a:solidFill>
          <a:ln xmlns:a="http://schemas.openxmlformats.org/drawingml/2006/main" w="0">
            <a:solidFill>
              <a:srgbClr val="D5EAE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DBDDD8-E445-47A1-AE65-8CC49B16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720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836E"/>
                </a:solidFill>
              </a:defRPr>
            </a:pPr>
            <a:r>
              <a:rPr sz="825" b="1" i="0">
                <a:solidFill>
                  <a:srgbClr val="25836E"/>
                </a:solidFill>
              </a:rPr>
              <a:t>INSIDE PACE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C8FFEF-953B-40F6-B2D3-09316FF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57850"/>
            <a:ext cx="15621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033F15-AECC-428B-866A-7494507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245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2B35"/>
                </a:solidFill>
              </a:defRPr>
            </a:pPr>
            <a:r>
              <a:rPr sz="900" b="1" i="0">
                <a:solidFill>
                  <a:srgbClr val="202B35"/>
                </a:solidFill>
              </a:rPr>
              <a:t>Open latest event</a:t>
            </a:r>
          </a:p>
        </p:txBody>
      </p:sp>
    </p:spTree>
    <p:extLst>
      <p:ext uri="{BB962C8B-B14F-4D97-AF65-F5344CB8AC3E}">
        <p14:creationId xmlns:p14="http://schemas.microsoft.com/office/powerpoint/2010/main" val="2101826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8FFCEC-5E7E-4B54-BC13-A7F51E02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053A8-0B74-4556-A55E-64E2A637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solidFill>
              <a:srgbClr val="FCFA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787D5-56BE-4FA3-9783-3C9D5AE8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09E8B-E419-47EC-B39D-4B987FA5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4635"/>
                </a:solidFill>
              </a:defRPr>
            </a:pPr>
            <a:r>
              <a:rPr sz="1200" b="1" i="0">
                <a:solidFill>
                  <a:srgbClr val="B8463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F0610-51B1-435F-BE4D-9257D5EE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BCD0C-5904-41CA-82C2-5E06A8FE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C6538-5272-4DC7-82DE-79CADDE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372FF-AA6A-4C43-968D-B03A64E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0">
            <a:solidFill>
              <a:srgbClr val="F2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52FC2-5627-4C26-82DD-205CD406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409FF-6ED9-44FD-88C8-5A0F8FD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4635"/>
                </a:solidFill>
              </a:defRPr>
            </a:pPr>
            <a:r>
              <a:rPr sz="1050" b="1" i="0">
                <a:solidFill>
                  <a:srgbClr val="B84635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3AE38-696E-4F74-B5B0-E227928C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17A5A-00DB-410E-BA06-14AC9070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2498B-3E4E-48C0-B245-694FE75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71A19-4FE5-4AFB-9DA2-D1C091DA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AE9FD-B38C-4B71-81F6-A862C054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318CC-D615-4F9B-950F-986AB8D8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87BAD-476A-4BF4-94B2-8EB71B68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9EA82-8682-45D5-BA86-1CA6A14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FFA16-66D4-4AF7-8BD7-41DE0E11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5D2C5-C1D2-4031-9BAB-C45D90E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4B3BB-B886-41F1-A613-5203D739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324FC-31C0-418D-9616-A532504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228DF-1D74-420C-87CE-C9A2F4D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078"/>
                </a:solidFill>
              </a:defRPr>
            </a:pPr>
            <a:r>
              <a:rPr sz="825" b="0" i="0">
                <a:solidFill>
                  <a:srgbClr val="687078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D6812-D3DA-45F1-9482-BDEDD1E6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DF656-A3C3-4228-B70F-4CD1EF37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36E"/>
          </a:solidFill>
          <a:ln xmlns:a="http://schemas.openxmlformats.org/drawingml/2006/main" w="0">
            <a:solidFill>
              <a:srgbClr val="2583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0B3F6-6250-40F8-94F9-8CFC38A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CCF70-7EC3-4375-9CC4-6C6ABCB8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r314 / Case 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D24D62-3C89-48EE-AA3F-428AAF2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E789D-3D59-4DD3-8D88-AE215395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02 · EVENT SPINE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E5C5D4-8BBD-4A5D-B261-BD297B3F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0AA414-32F1-4332-AAD3-3CD38B26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3F07D-9B74-48E3-B88E-423B9736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84635"/>
                </a:solidFill>
              </a:defRPr>
            </a:pPr>
            <a:r>
              <a:rPr sz="975" b="1" i="0">
                <a:solidFill>
                  <a:srgbClr val="B8463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068B7-A32C-4049-ACC1-4E5B872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B35"/>
                </a:solidFill>
              </a:defRPr>
            </a:pPr>
            <a:r>
              <a:rPr sz="1800" b="1" i="0">
                <a:solidFill>
                  <a:srgbClr val="202B35"/>
                </a:solidFill>
              </a:rPr>
              <a:t>r314 · repeated verification finding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C6AEB5-EA75-464A-9584-3667654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Case C-014 · opened automatically at 11:52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13310-292F-42A6-A322-4B5F134A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3820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85652-9EFE-40F2-A6F2-E81AC262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9048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Steer case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5EDBCB-27E9-46EC-8C2F-3C654620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1049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D5CE"/>
          </a:solidFill>
          <a:ln xmlns:a="http://schemas.openxmlformats.org/drawingml/2006/main" w="0">
            <a:solidFill>
              <a:srgbClr val="F4D5C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F49EF-58D7-4727-A563-9444C476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1430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14A38"/>
                </a:solidFill>
              </a:defRPr>
            </a:pPr>
            <a:r>
              <a:rPr sz="900" b="1" i="0">
                <a:solidFill>
                  <a:srgbClr val="C14A38"/>
                </a:solidFill>
              </a:rPr>
              <a:t>DEGRADED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C21651-18B3-4E67-A2E3-9CBEC71E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5D96E6-D11F-4F5B-9E5B-92D5AF96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8600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E89A51-01C2-4467-A088-28D77122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6C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1CCB4F-B2C2-4F59-B906-991A931E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336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10:31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560931-8571-4363-8767-37731A3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Attempt 1 · R2=C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3FF4CB-3BDE-49A6-9606-CFAF9257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622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suspended leases skipped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00585E-CA77-4C54-BE73-05574537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5CE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EB8045-7D2E-4AC1-A6FB-F81B2BF9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11:20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C2BC3F-82C2-4180-B222-DF0A60D6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Attempt 2 · R2=C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28DE00-62F3-488D-9556-02E92A2E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same defect · +38 / −12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9D3AF8-C207-47E2-BDD9-7F4A85E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7965F3-7FB8-4161-9135-16ED316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11:52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A94BEE-72C2-4CA2-B4C3-0112C1AE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4635"/>
                </a:solidFill>
              </a:defRPr>
            </a:pPr>
            <a:r>
              <a:rPr sz="1125" b="1" i="0">
                <a:solidFill>
                  <a:srgbClr val="B84635"/>
                </a:solidFill>
              </a:rPr>
              <a:t>No information delta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0C0954-417D-4ADC-837F-A761D7D4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retry has no new evidence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2E0EB9-F9B5-4AC7-AC11-A97F737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95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E0E5A2-BE91-49A3-BE9F-0BD2E841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767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now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47C022-BD36-4F9B-9CAD-6C918879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Operator decision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CB6986-97BA-48BD-A3F5-600333EC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053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$1.05 retry · 1 attempt left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869B7A-8F72-48A0-9DA7-76FE46A1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762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4D5CE"/>
          </a:solidFill>
          <a:ln xmlns:a="http://schemas.openxmlformats.org/drawingml/2006/main" w="9525">
            <a:solidFill>
              <a:srgbClr val="C14A3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C24254-4ACE-488D-9FCA-DE25506B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A38"/>
                </a:solidFill>
              </a:defRPr>
            </a:pPr>
            <a:r>
              <a:rPr sz="825" b="1" i="0">
                <a:solidFill>
                  <a:srgbClr val="C14A38"/>
                </a:solidFill>
              </a:rPr>
              <a:t>WHY THE RETRY FAILED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3DD338-2FC9-4DC4-8E98-42F2C184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Verifier used a suspension replay that never entered the builder packet.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8119CA-8959-41D0-88F3-DD912F6E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078"/>
                </a:solidFill>
              </a:defRPr>
            </a:pPr>
            <a:r>
              <a:rPr sz="1050" b="0" i="0">
                <a:solidFill>
                  <a:srgbClr val="687078"/>
                </a:solidFill>
              </a:rPr>
              <a:t>Suspension mid-sweep skips the row; same defect as attempt 1.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0007C9-A673-4717-935D-306BC4DA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4762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8DB976-2476-410A-8EA6-790DCA1A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DECISION POINT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4D2D75-FC7D-42F0-A74C-47467AC8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B35"/>
                </a:solidFill>
              </a:defRPr>
            </a:pPr>
            <a:r>
              <a:rPr sz="1275" b="1" i="0">
                <a:solidFill>
                  <a:srgbClr val="202B35"/>
                </a:solidFill>
              </a:rPr>
              <a:t>$1.05 approximate · 1 attempt left · 3 successors blocked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3A96F6-36A8-424A-B704-D3A6BC9A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86350"/>
            <a:ext cx="144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FD160E-4694-44E6-91DE-6C4BCEC3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53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02B35"/>
                </a:solidFill>
              </a:defRPr>
            </a:pPr>
            <a:r>
              <a:rPr sz="1050" b="1" i="0">
                <a:solidFill>
                  <a:srgbClr val="202B35"/>
                </a:solidFill>
              </a:rPr>
              <a:t>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D88DF9-EC1A-4C80-82E4-AB716A4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86350"/>
            <a:ext cx="144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E97079-DD61-4866-A240-2316D7F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53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02B35"/>
                </a:solidFill>
              </a:defRPr>
            </a:pPr>
            <a:r>
              <a:rPr sz="1050" b="1" i="0">
                <a:solidFill>
                  <a:srgbClr val="202B35"/>
                </a:solidFill>
              </a:rPr>
              <a:t>Retry with delta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EB60D6-EB0C-477E-9212-BA0869B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86350"/>
            <a:ext cx="1562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025B2C-9564-4D22-ABA1-33E694D9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530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Steer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6AD905-8A11-461D-9844-81D7FDF1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687078"/>
                </a:solidFill>
              </a:defRPr>
            </a:pPr>
            <a:r>
              <a:rPr sz="1125" b="0" i="1">
                <a:solidFill>
                  <a:srgbClr val="687078"/>
                </a:solidFill>
              </a:rPr>
              <a:t>Suspended leases are re-queued, never dropped</a:t>
            </a:r>
          </a:p>
        </p:txBody>
      </p:sp>
    </p:spTree>
    <p:extLst>
      <p:ext uri="{BB962C8B-B14F-4D97-AF65-F5344CB8AC3E}">
        <p14:creationId xmlns:p14="http://schemas.microsoft.com/office/powerpoint/2010/main" val="1255608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0C545D-7404-476F-8D72-A2863436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A6C59-45D1-4FBE-84A9-67E75ECF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solidFill>
              <a:srgbClr val="FCFA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B5C8F-CDED-4B41-B80F-D747623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C7D73-5001-4ED9-8B14-416503F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4635"/>
                </a:solidFill>
              </a:defRPr>
            </a:pPr>
            <a:r>
              <a:rPr sz="1200" b="1" i="0">
                <a:solidFill>
                  <a:srgbClr val="B8463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6D0FA-84EB-4E88-BE02-63AF117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E8919-5E90-4C41-B666-B08F27C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BFCAD-FF91-43A9-8B68-1E86505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E4B0D-0398-49C8-893C-23FF6E74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0">
            <a:solidFill>
              <a:srgbClr val="F2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2D86D-83BF-46E2-AE8C-9F26B2F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4E505-3B3C-4BA4-8EF5-4E2C3BB3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4635"/>
                </a:solidFill>
              </a:defRPr>
            </a:pPr>
            <a:r>
              <a:rPr sz="1050" b="1" i="0">
                <a:solidFill>
                  <a:srgbClr val="B84635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8FB65-9B46-454C-8018-FCA5D9B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45247-93EF-4367-AE28-06BD32F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07B25-B3B5-4637-A3E7-E45F196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77AB3-3E97-4850-996D-9805ECE3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947D1-469E-4408-9C86-0B2DC63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8ADAE-53E8-4861-A2A8-50BA6A1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B98A8-BA3A-4A55-A247-7A76BAD6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BFF15-886D-407E-96D6-63D308A1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931E5-4F9D-4580-A041-DF3954FA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2C2FD-EDC8-4690-BD32-66717E5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C3F8B-0709-4329-9FC3-7A2BFCB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BAABE-7719-4B0B-9DB3-EA8F375F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AB24C-0DEF-4A49-BD17-5190BB7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078"/>
                </a:solidFill>
              </a:defRPr>
            </a:pPr>
            <a:r>
              <a:rPr sz="825" b="0" i="0">
                <a:solidFill>
                  <a:srgbClr val="687078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39C17-7E65-45F2-99F0-59622AB6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AFDB0-FA20-4A38-B2F1-6662692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36E"/>
          </a:solidFill>
          <a:ln xmlns:a="http://schemas.openxmlformats.org/drawingml/2006/main" w="0">
            <a:solidFill>
              <a:srgbClr val="2583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38341-B219-418B-B983-95840DC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A5DF5-B4C8-4A37-90B4-11EFF94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r314 / Evidence 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988CD-8936-4425-950E-978EF8EE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56A97-014B-4AC0-9BEE-CAF4510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02 · EVENT SPINE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44285-802E-4FE1-B9A1-FA384E6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D4AE9-9DB4-44E3-AC10-F700BFEA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9F545E-9CE6-4E37-9BFC-E21852F8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84635"/>
                </a:solidFill>
              </a:defRPr>
            </a:pPr>
            <a:r>
              <a:rPr sz="975" b="1" i="0">
                <a:solidFill>
                  <a:srgbClr val="B8463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085BDE-68E0-47A6-91EA-03FC9906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B35"/>
                </a:solidFill>
              </a:defRPr>
            </a:pPr>
            <a:r>
              <a:rPr sz="1800" b="1" i="0">
                <a:solidFill>
                  <a:srgbClr val="202B35"/>
                </a:solidFill>
              </a:rPr>
              <a:t>11:20 · Attempt 2 failed 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493A71-CB37-4E10-A221-50793BB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Expanded event · selection remains on the spine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E1189-C49C-4ED1-B169-8830BD75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38200"/>
            <a:ext cx="1181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066380-A774-4B1C-A7D7-E0093FB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90487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Add to directive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E6380F-4EFF-4B76-B4A2-4C09E63E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3238500" cy="504825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B2EEE9-34C5-4AC1-94A0-8C67136E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2410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0985D-4832-48D7-A4DB-E75450B5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90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6C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D2B0BD-3586-4505-922F-C975C3AE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71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10:31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BB497D-9D73-4278-89B3-E9EBFE87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52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Attempt 1 · 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5F1EE-3EC3-4592-9901-6CE6C142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same requirement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A2B49F-C77D-48DA-A107-DA847A0F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FE163A-0197-441A-A985-C9D2F174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11:20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D0492B-E916-4C4A-BCDE-2CCA4B4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4635"/>
                </a:solidFill>
              </a:defRPr>
            </a:pPr>
            <a:r>
              <a:rPr sz="1125" b="1" i="0">
                <a:solidFill>
                  <a:srgbClr val="B84635"/>
                </a:solidFill>
              </a:rPr>
              <a:t>Attempt 2 · 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A53B10-245A-4D78-B0FA-95AEEEF6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selected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4F5F54-F1EB-4FC3-B755-39962D7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52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5CE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4AEA6B-9284-4266-BC02-BE1E016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11:52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1B2AD2-C147-4885-A8FC-879E771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No information delta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A42A72-6CB6-4492-AFF2-34A18321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case promoted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5F2340-9C8B-402E-9B69-3012D6B6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57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CASE C-014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2AEB92-17B3-4C9F-A4CE-8DCF0FD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05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R2 · C / 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B26371-5177-4E1F-847B-B2CB966E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29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14A38"/>
                </a:solidFill>
              </a:defRPr>
            </a:pPr>
            <a:r>
              <a:rPr sz="975" b="1" i="0">
                <a:solidFill>
                  <a:srgbClr val="C14A38"/>
                </a:solidFill>
              </a:rPr>
              <a:t>3 successors blocked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BCC07F-887F-43EB-88FC-CE52088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15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7A22"/>
                </a:solidFill>
              </a:defRPr>
            </a:pPr>
            <a:r>
              <a:rPr sz="975" b="1" i="0">
                <a:solidFill>
                  <a:srgbClr val="B77A22"/>
                </a:solidFill>
              </a:rPr>
              <a:t>$1.05 retry · 1 attempt left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71DC40-33D0-4EE6-BAFB-274C92E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66675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9050">
            <a:solidFill>
              <a:srgbClr val="B8463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C9394E-1AE3-4CDF-BB7B-56A79FC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335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4635"/>
                </a:solidFill>
              </a:defRPr>
            </a:pPr>
            <a:r>
              <a:rPr sz="825" b="1" i="0">
                <a:solidFill>
                  <a:srgbClr val="B84635"/>
                </a:solidFill>
              </a:rPr>
              <a:t>EVIDENCE / VERIFIER RECORD vr-112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D6C2DE-F262-4566-BB22-8A8DA7B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B35"/>
                </a:solidFill>
              </a:defRPr>
            </a:pPr>
            <a:r>
              <a:rPr sz="1500" b="1" i="0">
                <a:solidFill>
                  <a:srgbClr val="202B35"/>
                </a:solidFill>
              </a:rPr>
              <a:t>Suspended leases are re-queued, never dropped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230317-4936-4AC9-9305-5E13CC58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19300"/>
            <a:ext cx="685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D5CE"/>
          </a:solidFill>
          <a:ln xmlns:a="http://schemas.openxmlformats.org/drawingml/2006/main" w="0">
            <a:solidFill>
              <a:srgbClr val="F4D5C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A39AD8-908D-44C9-A395-9DFF11F2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574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14A38"/>
                </a:solidFill>
              </a:defRPr>
            </a:pPr>
            <a:r>
              <a:rPr sz="1200" b="1" i="0">
                <a:solidFill>
                  <a:srgbClr val="C14A38"/>
                </a:solidFill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44F893-44CF-480F-9951-890CBDB3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58674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85851A-916C-46D6-A293-019F1D78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SCENARIO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6566A8-DD7B-42EB-958A-E0FC372B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5"/>
                </a:solidFill>
              </a:defRPr>
            </a:pPr>
            <a:r>
              <a:rPr sz="1200" b="1" i="0">
                <a:solidFill>
                  <a:srgbClr val="202B35"/>
                </a:solidFill>
              </a:rPr>
              <a:t>Suspend after dequeue, resume, and assert exactly-once requeue.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73573E-AA95-41B9-9E13-55BC9574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290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PACKET CONTENT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6D5597-6614-4B19-92E9-DFAD5BF6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957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AE4"/>
          </a:solidFill>
          <a:ln xmlns:a="http://schemas.openxmlformats.org/drawingml/2006/main" w="0">
            <a:solidFill>
              <a:srgbClr val="D5EAE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BEECCA-F306-434B-9908-AAAC97EA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338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836E"/>
                </a:solidFill>
              </a:defRPr>
            </a:pPr>
            <a:r>
              <a:rPr sz="825" b="1" i="0">
                <a:solidFill>
                  <a:srgbClr val="25836E"/>
                </a:solidFill>
              </a:rPr>
              <a:t>✓ rubric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D96579-5B43-4D6D-903D-FC6B7418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AE4"/>
          </a:solidFill>
          <a:ln xmlns:a="http://schemas.openxmlformats.org/drawingml/2006/main" w="0">
            <a:solidFill>
              <a:srgbClr val="D5EAE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EFAC83-9106-4676-B913-DF576DD3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338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836E"/>
                </a:solidFill>
              </a:defRPr>
            </a:pPr>
            <a:r>
              <a:rPr sz="825" b="1" i="0">
                <a:solidFill>
                  <a:srgbClr val="25836E"/>
                </a:solidFill>
              </a:rPr>
              <a:t>✓ own candidate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6F3ADC-0FC3-46A4-9E97-E1DB746D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D5CE"/>
          </a:solidFill>
          <a:ln xmlns:a="http://schemas.openxmlformats.org/drawingml/2006/main" w="0">
            <a:solidFill>
              <a:srgbClr val="F4D5C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FB7F78-29D2-41B8-B0CC-7FC10B5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338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4A38"/>
                </a:solidFill>
              </a:defRPr>
            </a:pPr>
            <a:r>
              <a:rPr sz="825" b="1" i="0">
                <a:solidFill>
                  <a:srgbClr val="C14A38"/>
                </a:solidFill>
              </a:rPr>
              <a:t>× replay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089AA9-6036-4EB1-9878-E321AFA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D5CE"/>
          </a:solidFill>
          <a:ln xmlns:a="http://schemas.openxmlformats.org/drawingml/2006/main" w="0">
            <a:solidFill>
              <a:srgbClr val="F4D5C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95E380C-9F91-4649-8EF2-09108B7C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338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4A38"/>
                </a:solidFill>
              </a:defRPr>
            </a:pPr>
            <a:r>
              <a:rPr sz="825" b="1" i="0">
                <a:solidFill>
                  <a:srgbClr val="C14A38"/>
                </a:solidFill>
              </a:rPr>
              <a:t>× incident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10E2E7-0EB1-49E1-B72B-1BC18DF6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29150"/>
            <a:ext cx="58674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4D5CE"/>
          </a:solidFill>
          <a:ln xmlns:a="http://schemas.openxmlformats.org/drawingml/2006/main" w="9525">
            <a:solidFill>
              <a:srgbClr val="C14A3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A40FE1-8069-4573-B55E-9A26A45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A38"/>
                </a:solidFill>
              </a:defRPr>
            </a:pPr>
            <a:r>
              <a:rPr sz="825" b="1" i="0">
                <a:solidFill>
                  <a:srgbClr val="C14A38"/>
                </a:solidFill>
              </a:rPr>
              <a:t>CAUSAL GAP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1CCEFC-B73F-4442-832F-E2761814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5"/>
                </a:solidFill>
              </a:defRPr>
            </a:pPr>
            <a:r>
              <a:rPr sz="1200" b="1" i="0">
                <a:solidFill>
                  <a:srgbClr val="202B35"/>
                </a:solidFill>
              </a:rPr>
              <a:t>Suspension replay and BUSY_SNAPSHOT · 2026-07-16 10:22 never entered the builder packet.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D72043-F575-4C08-98F3-D379A193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43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078"/>
                </a:solidFill>
              </a:defRPr>
            </a:pPr>
            <a:r>
              <a:rPr sz="900" b="0" i="0">
                <a:solidFill>
                  <a:srgbClr val="687078"/>
                </a:solidFill>
              </a:rPr>
              <a:t>Provenance: verification.completed · event e-8891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214B25-1A71-4223-A92C-B4E8E11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848350"/>
            <a:ext cx="1066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B2945C-1467-431B-82C2-122B446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150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Raw event</a:t>
            </a:r>
          </a:p>
        </p:txBody>
      </p:sp>
    </p:spTree>
    <p:extLst>
      <p:ext uri="{BB962C8B-B14F-4D97-AF65-F5344CB8AC3E}">
        <p14:creationId xmlns:p14="http://schemas.microsoft.com/office/powerpoint/2010/main" val="982628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744AA8-FBB4-43DA-B744-542C4EC1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649B-7A21-490E-BB33-E931FEAE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solidFill>
              <a:srgbClr val="FCFA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33E27-A273-40FD-86A6-1CFE50B3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1731-3E85-4989-A015-5E79AEE6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4635"/>
                </a:solidFill>
              </a:defRPr>
            </a:pPr>
            <a:r>
              <a:rPr sz="1200" b="1" i="0">
                <a:solidFill>
                  <a:srgbClr val="B8463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789BE-D04E-40F0-BB87-5EAD8C2E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9D176-DCDA-4A8F-8CF0-B43A4AD6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278E1-A43E-4EF0-A570-FDC9C45F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AA6B7-170F-4E3C-8740-0BCC2F81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0">
            <a:solidFill>
              <a:srgbClr val="F2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BE9C0-12B9-4954-B2E9-298D3D9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E8A55-BDD3-482E-A7F9-68F80C76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4635"/>
                </a:solidFill>
              </a:defRPr>
            </a:pPr>
            <a:r>
              <a:rPr sz="1050" b="1" i="0">
                <a:solidFill>
                  <a:srgbClr val="B84635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CAB8C-A956-4704-8960-E5F86044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DEA90-8127-4182-97BF-24897A2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436D6-66EB-48BF-B861-42DA525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71396-6675-475B-AEFC-6EBF89C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6CBB5-FE54-4437-9E3B-CC50893C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C4692-8FB2-4830-9D9B-B56F6DD0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B4DAB-7B96-46E6-AA5A-48E10C1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5D6F3-CB0C-4A59-9869-3E438EBD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A7DB4-5104-46DC-BBF0-A6D2D1A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57E97-064A-4C74-9D2D-9E9AF28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F616C-D950-428A-9DE8-DFB53AE4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5293F-987F-4742-B4A9-8142847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D81A0-0E7C-47C1-8D60-02326A56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078"/>
                </a:solidFill>
              </a:defRPr>
            </a:pPr>
            <a:r>
              <a:rPr sz="825" b="0" i="0">
                <a:solidFill>
                  <a:srgbClr val="687078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8E6B8-0976-4305-A3B4-0DD2205C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3534A-DBA8-46AA-B137-09CFF1B8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36E"/>
          </a:solidFill>
          <a:ln xmlns:a="http://schemas.openxmlformats.org/drawingml/2006/main" w="0">
            <a:solidFill>
              <a:srgbClr val="2583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9081E-E1C1-4058-8865-C8F58A95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61731-751E-48AC-88D7-8830193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r314 / New directive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7E4D8-7006-40A2-A579-C21A77CD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11532-8425-41B6-8A19-C5847BE3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02 · EVENT SPINE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B6CC1-BFCE-4F01-B578-0C4A8F20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2447FA-3CDE-4BDA-8695-6FC3B86D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8F495-4362-4543-A5F9-A69DD8A2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84635"/>
                </a:solidFill>
              </a:defRPr>
            </a:pPr>
            <a:r>
              <a:rPr sz="975" b="1" i="0">
                <a:solidFill>
                  <a:srgbClr val="B8463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26F3B-C6FB-4088-BBBD-A593EE72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"/>
            <a:ext cx="10572750" cy="626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D"/>
          </a:solidFill>
          <a:ln xmlns:a="http://schemas.openxmlformats.org/drawingml/2006/main" w="0">
            <a:solidFill>
              <a:srgbClr val="EEE7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F8793-DD07-4D8A-AAB8-A5F9C1D1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81050"/>
            <a:ext cx="9029700" cy="5810250"/>
          </a:xfrm>
          <a:prstGeom xmlns:a="http://schemas.openxmlformats.org/drawingml/2006/main" prst="roundRect">
            <a:avLst>
              <a:gd name="adj" fmla="val 984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9050">
            <a:solidFill>
              <a:srgbClr val="B846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01CA9B-C245-4D5E-B4D0-606B8EB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287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4635"/>
                </a:solidFill>
              </a:defRPr>
            </a:pPr>
            <a:r>
              <a:rPr sz="825" b="1" i="0">
                <a:solidFill>
                  <a:srgbClr val="B84635"/>
                </a:solidFill>
              </a:rPr>
              <a:t>ADD DIRECTIVE TO CASE C-014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1F91E5-F1C0-47B9-9448-4E9F6BA6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954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B35"/>
                </a:solidFill>
              </a:defRPr>
            </a:pPr>
            <a:r>
              <a:rPr sz="1725" b="1" i="0">
                <a:solidFill>
                  <a:srgbClr val="202B35"/>
                </a:solidFill>
              </a:rPr>
              <a:t>Steer from the selected event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520019-B031-432E-B7DA-E2C8580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858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6C8"/>
          </a:solidFill>
          <a:ln xmlns:a="http://schemas.openxmlformats.org/drawingml/2006/main" w="0">
            <a:solidFill>
              <a:srgbClr val="F5E6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5F1302-A6AC-4BAB-AB49-94B0AD1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1239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77A22"/>
                </a:solidFill>
              </a:defRPr>
            </a:pPr>
            <a:r>
              <a:rPr sz="825" b="1" i="0">
                <a:solidFill>
                  <a:srgbClr val="B77A22"/>
                </a:solidFill>
              </a:rPr>
              <a:t>PROPOSED CAPABILITY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066E3D-5983-443D-9EAD-7A94E94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84201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601FC0-359E-45C3-B886-26A8AB9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84635"/>
                </a:solidFill>
              </a:defRPr>
            </a:pPr>
            <a:r>
              <a:rPr sz="825" b="1" i="0">
                <a:solidFill>
                  <a:srgbClr val="B84635"/>
                </a:solidFill>
              </a:rPr>
              <a:t>CASE CONTEXT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AA427E-5982-4E6A-8555-4AA99612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2B35"/>
                </a:solidFill>
              </a:defRPr>
            </a:pPr>
            <a:r>
              <a:rPr sz="1050" b="1" i="0">
                <a:solidFill>
                  <a:srgbClr val="202B35"/>
                </a:solidFill>
              </a:rPr>
              <a:t>R2 · C / C · no information delta · 3 successors blocked · retry ≈ $1.05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ECB84A-3628-464C-B5DF-C4E59EEE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842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DIRECTIVE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D5AB14-5944-4B89-B6C7-A3FB84BE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3700"/>
            <a:ext cx="8420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463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9B36C1-8ECA-432B-AFB6-6A52F03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2895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5"/>
                </a:solidFill>
              </a:defRPr>
            </a:pPr>
            <a:r>
              <a:rPr sz="1200" b="1" i="0">
                <a:solidFill>
                  <a:srgbClr val="202B35"/>
                </a:solidFill>
              </a:rPr>
              <a:t>Read lease-state snapshots outside the lock; verify suspension mid-sweep before reconnecting the join.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ECB433-0BCA-4508-B995-154F31C7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86200"/>
            <a:ext cx="842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EVIDENCE FROM EVENT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5A0BEA-3888-4F1B-A2CF-16E952A9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84201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2DEB91-78F3-45F2-9333-BC305E3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910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02B35"/>
                </a:solidFill>
              </a:defRPr>
            </a:pPr>
            <a:r>
              <a:rPr sz="1050" b="0" i="0">
                <a:solidFill>
                  <a:srgbClr val="202B35"/>
                </a:solidFill>
              </a:rPr>
              <a:t>BUSY_SNAPSHOT · 2026-07-16 10:22 · verifier record vr-112 · fix commit 8f62b04c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4F08A-4862-43CE-B1AF-968A55D1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244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SCOPE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4E99AD-586A-4983-ADBF-389E5250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33950"/>
            <a:ext cx="26860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75BE24-FE8E-47B4-9CD2-76D73547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292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verify-claim-sweep + blocked successors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AE20AB-AD3D-47C9-AAC8-6AC129F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24400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AUTHORITY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A17D53-8960-4705-869B-0CFED9CE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25527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068949-27C3-445C-B04B-0D375313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292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Propose for approval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64BFE1-E7EC-45AC-981C-D779523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2838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CORRECTION BUDGET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F6073B-A934-42AF-8F31-7129BCBE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28384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6E8972-CA82-41C8-8AA7-E3C547D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400k tokens / $1.50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A1B2D8-2E59-4150-B2A3-76327C0C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388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The event spine will record issue, approval, binding, withdrawal, and outcome.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4AA841-8017-4BEF-99A1-1A3D98D8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19800"/>
            <a:ext cx="9906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9B3E01-D7B3-462A-BECA-EF18E507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864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Cancel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BBD0F0-1376-41B4-BF15-C766251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19800"/>
            <a:ext cx="12192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D7CFAF-5283-49BD-81A3-8D25EE69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864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Generate plan</a:t>
            </a:r>
          </a:p>
        </p:txBody>
      </p:sp>
    </p:spTree>
    <p:extLst>
      <p:ext uri="{BB962C8B-B14F-4D97-AF65-F5344CB8AC3E}">
        <p14:creationId xmlns:p14="http://schemas.microsoft.com/office/powerpoint/2010/main" val="1980297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357E8A-6C53-4934-AF52-6B9241D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A9BC-AE94-411E-9FFB-01C832EA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0">
            <a:solidFill>
              <a:srgbClr val="FCFA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9EEC0-BE52-472A-ACE9-68AC4DC5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942CB-F23A-4ACB-BC6A-F2394478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619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4635"/>
                </a:solidFill>
              </a:defRPr>
            </a:pPr>
            <a:r>
              <a:rPr sz="1200" b="1" i="0">
                <a:solidFill>
                  <a:srgbClr val="B84635"/>
                </a:solidFill>
              </a:rPr>
              <a:t>TASK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24D66-059F-41FB-AEB2-D1410EE1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16B4E-3BBC-4E05-A038-ABB63C49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66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4D5E5-053E-4AE0-8493-8A0C4CB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Fleet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559F3-DA9F-4061-B5C5-81F0B8E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85875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0">
            <a:solidFill>
              <a:srgbClr val="F2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156E8-F70B-43DA-A6C9-B5E4F3B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335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2E44D-5A10-4F8C-A1A3-3BC1FDD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811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84635"/>
                </a:solidFill>
              </a:defRPr>
            </a:pPr>
            <a:r>
              <a:rPr sz="1050" b="1" i="0">
                <a:solidFill>
                  <a:srgbClr val="B84635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CD42A-3A8B-43F4-8653-1D08D17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2B35"/>
                </a:solidFill>
              </a:defRPr>
            </a:pPr>
            <a:r>
              <a:rPr sz="975" b="1" i="0">
                <a:solidFill>
                  <a:srgbClr val="202B35"/>
                </a:solidFill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FEEE8-743E-4C31-8138-E1DA6C37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47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CFED1-AC49-41F6-A749-2266F67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95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AD14C-0DB8-4450-9C91-79FC9A3F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Observatory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73DFE-EBA1-477E-ACD0-69D9DBCD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19075-0979-420F-9696-AA0A6EB0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409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7B849-E12A-4DE0-A7F7-DF2D6D67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Routines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CA785-06CB-41E7-B0AA-8670861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8765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B33"/>
          </a:solidFill>
          <a:ln xmlns:a="http://schemas.openxmlformats.org/drawingml/2006/main" w="0">
            <a:solidFill>
              <a:srgbClr val="252B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265CD-16A4-4503-B37D-D9D8B04D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24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87078"/>
                </a:solidFill>
              </a:defRPr>
            </a:pPr>
            <a:r>
              <a:rPr sz="1050" b="1" i="0">
                <a:solidFill>
                  <a:srgbClr val="687078"/>
                </a:solidFill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9B4CD-5EE0-4413-8F94-85F2D8F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5BDD5-9632-44C5-B810-D246FC3B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52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93DE0-AEC8-4F4E-97BE-C27B61A5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main · orchestrator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849F8-8274-4390-BE29-99EB179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48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87078"/>
                </a:solidFill>
              </a:defRPr>
            </a:pPr>
            <a:r>
              <a:rPr sz="825" b="0" i="0">
                <a:solidFill>
                  <a:srgbClr val="687078"/>
                </a:solidFill>
              </a:rPr>
              <a:t>sha 9bc83f2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57564-989F-478C-8EC7-FDD17A75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210300"/>
            <a:ext cx="1314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B2"/>
          </a:solidFill>
          <a:ln xmlns:a="http://schemas.openxmlformats.org/drawingml/2006/main" w="0">
            <a:solidFill>
              <a:srgbClr val="D2C3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13E8E-D01B-425E-BDE1-E48DE3A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41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836E"/>
          </a:solidFill>
          <a:ln xmlns:a="http://schemas.openxmlformats.org/drawingml/2006/main" w="0">
            <a:solidFill>
              <a:srgbClr val="2583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F93C6-A787-491D-82EF-C9CAD8E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System healthy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01ACC-A99E-4975-98DA-5049A0AA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5"/>
                </a:solidFill>
              </a:defRPr>
            </a:pPr>
            <a:r>
              <a:rPr sz="1350" b="1" i="0">
                <a:solidFill>
                  <a:srgbClr val="202B35"/>
                </a:solidFill>
              </a:rPr>
              <a:t>r314 / Case outcome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27249-6B21-499F-A43F-C47DE195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04672B-D86C-477F-BCCE-C2E4759F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02 · EVENT SPINE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40BA1-6D36-4618-A5A3-23464871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00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⌘ 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8C099-6968-4B7D-A073-19872FDC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0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B846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9D118-614A-4721-8612-621198F7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84635"/>
                </a:solidFill>
              </a:defRPr>
            </a:pPr>
            <a:r>
              <a:rPr sz="975" b="1" i="0">
                <a:solidFill>
                  <a:srgbClr val="B84635"/>
                </a:solidFill>
              </a:rPr>
              <a:t>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A048B-CB43-49A9-A6E4-6E96580E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B35"/>
                </a:solidFill>
              </a:defRPr>
            </a:pPr>
            <a:r>
              <a:rPr sz="1800" b="1" i="0">
                <a:solidFill>
                  <a:srgbClr val="202B35"/>
                </a:solidFill>
              </a:rPr>
              <a:t>Case C-014 · resolved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1A52FC-AFE3-47AD-B1DD-842140CB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104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Outcome record o-19 · all evidence retained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F938DC-4523-457C-BCB6-0DBDDF20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38200"/>
            <a:ext cx="781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DF9F75-C422-4A64-9673-71205DB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9048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Export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82049A-02CB-4866-BEC3-CE7531B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38200"/>
            <a:ext cx="933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13A839-8666-47BB-981C-EDC42B3D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90487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02B35"/>
                </a:solidFill>
              </a:defRPr>
            </a:pPr>
            <a:r>
              <a:rPr sz="825" b="1" i="0">
                <a:solidFill>
                  <a:srgbClr val="202B35"/>
                </a:solidFill>
              </a:rPr>
              <a:t>Compare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103033-62A8-461B-B771-F0E410A4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10490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AE4"/>
          </a:solidFill>
          <a:ln xmlns:a="http://schemas.openxmlformats.org/drawingml/2006/main" w="0">
            <a:solidFill>
              <a:srgbClr val="D5EA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747A2E-E951-47EC-8156-BD529D3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1430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5836E"/>
                </a:solidFill>
              </a:defRPr>
            </a:pPr>
            <a:r>
              <a:rPr sz="900" b="1" i="0">
                <a:solidFill>
                  <a:srgbClr val="25836E"/>
                </a:solidFill>
              </a:rPr>
              <a:t>MERGED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51A52F-1313-4B68-A1CC-31CF545C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04950"/>
            <a:ext cx="1007745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C14804-229D-43C5-8AD8-7ADD9DD6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CD417F-F457-4B88-9D22-8A9236F7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38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5CE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F9D618-B5A7-4558-806E-EBBCE4BC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19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11:52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05BB10-4ADB-4E7E-9495-B7712F6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Repeat failure detected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F57070-2E00-4081-A3A2-1FE5910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case C-014 opened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9990D-4415-4F15-AF2A-277344A2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19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D3DD95-9287-42B8-8CD1-61764289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03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12:06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2AF7AE-5729-4F41-8AFD-0BB0D4E1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Directive d-7 recorded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4D53CE-32C8-4A26-82DC-E857BB33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evidence + scope + budget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434CB9-C6FA-4FA5-A0B3-57C00E34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6C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35E5CE-878A-49CC-A87C-8776ECB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814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12:07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266AA2-C2FB-4909-B548-C9FB0F28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Patch p-44 approved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3E677B-C59F-4C27-B838-D416B539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00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corrective path created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704392-B4A6-45D6-B6F3-E1FAA241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81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7D0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58DF86-2DB0-4FAA-9D3A-A352735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62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12:09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5C59C1-BF1D-48D8-B1E6-A35E018D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02B35"/>
                </a:solidFill>
              </a:defRPr>
            </a:pPr>
            <a:r>
              <a:rPr sz="1125" b="1" i="0">
                <a:solidFill>
                  <a:srgbClr val="202B35"/>
                </a:solidFill>
              </a:rPr>
              <a:t>Directive bound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1717FA-E60F-4C7A-8898-E6EEE4F0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build + verifier packets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EE9D24-5B87-4F38-9657-3E5300C2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62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7734D4-5DF7-4400-B594-F3A4C66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078"/>
                </a:solidFill>
              </a:defRPr>
            </a:pPr>
            <a:r>
              <a:rPr sz="900" b="1" i="0">
                <a:solidFill>
                  <a:srgbClr val="687078"/>
                </a:solidFill>
              </a:rPr>
              <a:t>14:05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38C6C8-6472-47B8-A04F-FDC64AA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24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84635"/>
                </a:solidFill>
              </a:defRPr>
            </a:pPr>
            <a:r>
              <a:rPr sz="1125" b="1" i="0">
                <a:solidFill>
                  <a:srgbClr val="B84635"/>
                </a:solidFill>
              </a:rPr>
              <a:t>Final gate green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A2DEF8-9034-491A-B86A-0D595565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72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87078"/>
                </a:solidFill>
              </a:defRPr>
            </a:pPr>
            <a:r>
              <a:rPr sz="975" b="0" i="0">
                <a:solidFill>
                  <a:srgbClr val="687078"/>
                </a:solidFill>
              </a:rPr>
              <a:t>Merged · 6h 51m · $6.94 / $12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0E13D2-9D99-4CD7-9F57-DC5EBBA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76250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D5EAE4"/>
          </a:solidFill>
          <a:ln xmlns:a="http://schemas.openxmlformats.org/drawingml/2006/main" w="9525">
            <a:solidFill>
              <a:srgbClr val="25836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B6B82C-8A78-4888-898A-35E3B689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5836E"/>
                </a:solidFill>
              </a:defRPr>
            </a:pPr>
            <a:r>
              <a:rPr sz="825" b="1" i="0">
                <a:solidFill>
                  <a:srgbClr val="25836E"/>
                </a:solidFill>
              </a:rPr>
              <a:t>OUTCOME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9C138B-3BD9-4FB5-9CE4-D77E9786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5"/>
                </a:solidFill>
              </a:defRPr>
            </a:pPr>
            <a:r>
              <a:rPr sz="1650" b="1" i="0">
                <a:solidFill>
                  <a:srgbClr val="202B35"/>
                </a:solidFill>
              </a:rPr>
              <a:t>Recovered without restart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470DFB-44AF-4FC2-A232-5364F4D3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B35"/>
                </a:solidFill>
              </a:defRPr>
            </a:pPr>
            <a:r>
              <a:rPr sz="1275" b="1" i="0">
                <a:solidFill>
                  <a:srgbClr val="202B35"/>
                </a:solidFill>
              </a:rPr>
              <a:t>Merged · 6h 51m · $6.94 / $12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02AB8B-A145-4780-9782-913B505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4762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D41143-7E62-401A-B771-959027A5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7078"/>
                </a:solidFill>
              </a:defRPr>
            </a:pPr>
            <a:r>
              <a:rPr sz="825" b="1" i="0">
                <a:solidFill>
                  <a:srgbClr val="687078"/>
                </a:solidFill>
              </a:rPr>
              <a:t>LEARNING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A7E492-D533-435C-9483-BD248518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5"/>
                </a:solidFill>
              </a:defRPr>
            </a:pPr>
            <a:r>
              <a:rPr sz="1200" b="1" i="0">
                <a:solidFill>
                  <a:srgbClr val="202B35"/>
                </a:solidFill>
              </a:rPr>
              <a:t>Repeated incident context belongs upstream in the routine, not in another emergency intervention.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72D065-E7EF-4B8B-954C-DE197053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67300"/>
            <a:ext cx="17907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3AD9C8-A0B8-4365-822B-22D2EEA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339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2B35"/>
                </a:solidFill>
              </a:defRPr>
            </a:pPr>
            <a:r>
              <a:rPr sz="900" b="1" i="0">
                <a:solidFill>
                  <a:srgbClr val="202B35"/>
                </a:solidFill>
              </a:rPr>
              <a:t>Create routine change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7BFF1-7624-450A-810C-7572E41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67300"/>
            <a:ext cx="133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B84635"/>
          </a:solidFill>
          <a:ln xmlns:a="http://schemas.openxmlformats.org/drawingml/2006/main" w="0">
            <a:solidFill>
              <a:srgbClr val="B8463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B9BE91-D7C4-4570-A5A4-CE86325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339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Bank outcome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BE6820C-AA58-4DE9-A684-B575DDE7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67300"/>
            <a:ext cx="133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9525">
            <a:solidFill>
              <a:srgbClr val="D2C3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842CE6-CC5C-4FD1-959C-43ECA1AB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339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02B35"/>
                </a:solidFill>
              </a:defRPr>
            </a:pPr>
            <a:r>
              <a:rPr sz="900" b="1" i="0">
                <a:solidFill>
                  <a:srgbClr val="202B35"/>
                </a:solidFill>
              </a:rPr>
              <a:t>Close case</a:t>
            </a:r>
          </a:p>
        </p:txBody>
      </p:sp>
    </p:spTree>
    <p:extLst>
      <p:ext uri="{BB962C8B-B14F-4D97-AF65-F5344CB8AC3E}">
        <p14:creationId xmlns:p14="http://schemas.microsoft.com/office/powerpoint/2010/main" val="2001494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2026-07-18T21:55:15.8960000Z</dcterms:created>
  <dcterms:modified xsi:type="dcterms:W3CDTF">2026-07-18T21:55:15.8960000Z</dcterms:modified>
</coreProperties>
</file>